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Muli Regular Bold" charset="1" panose="00000700000000000000"/>
      <p:regular r:id="rId22"/>
    </p:embeddedFont>
    <p:embeddedFont>
      <p:font typeface="Bobby Jones" charset="1" panose="00000000000000000000"/>
      <p:regular r:id="rId23"/>
    </p:embeddedFont>
    <p:embeddedFont>
      <p:font typeface="Muli Regular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229" y="483016"/>
            <a:ext cx="17501543" cy="9320968"/>
            <a:chOff x="0" y="0"/>
            <a:chExt cx="4609460" cy="2454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9460" cy="2454905"/>
            </a:xfrm>
            <a:custGeom>
              <a:avLst/>
              <a:gdLst/>
              <a:ahLst/>
              <a:cxnLst/>
              <a:rect r="r" b="b" t="t" l="l"/>
              <a:pathLst>
                <a:path h="2454905" w="4609460">
                  <a:moveTo>
                    <a:pt x="22560" y="0"/>
                  </a:moveTo>
                  <a:lnTo>
                    <a:pt x="4586899" y="0"/>
                  </a:lnTo>
                  <a:cubicBezTo>
                    <a:pt x="4599359" y="0"/>
                    <a:pt x="4609460" y="10101"/>
                    <a:pt x="4609460" y="22560"/>
                  </a:cubicBezTo>
                  <a:lnTo>
                    <a:pt x="4609460" y="2432345"/>
                  </a:lnTo>
                  <a:cubicBezTo>
                    <a:pt x="4609460" y="2444805"/>
                    <a:pt x="4599359" y="2454905"/>
                    <a:pt x="4586899" y="2454905"/>
                  </a:cubicBezTo>
                  <a:lnTo>
                    <a:pt x="22560" y="2454905"/>
                  </a:lnTo>
                  <a:cubicBezTo>
                    <a:pt x="16577" y="2454905"/>
                    <a:pt x="10839" y="2452528"/>
                    <a:pt x="6608" y="2448297"/>
                  </a:cubicBezTo>
                  <a:cubicBezTo>
                    <a:pt x="2377" y="2444067"/>
                    <a:pt x="0" y="2438328"/>
                    <a:pt x="0" y="2432345"/>
                  </a:cubicBezTo>
                  <a:lnTo>
                    <a:pt x="0" y="22560"/>
                  </a:lnTo>
                  <a:cubicBezTo>
                    <a:pt x="0" y="16577"/>
                    <a:pt x="2377" y="10839"/>
                    <a:pt x="6608" y="6608"/>
                  </a:cubicBezTo>
                  <a:cubicBezTo>
                    <a:pt x="10839" y="2377"/>
                    <a:pt x="16577" y="0"/>
                    <a:pt x="22560" y="0"/>
                  </a:cubicBezTo>
                  <a:close/>
                </a:path>
              </a:pathLst>
            </a:custGeom>
            <a:solidFill>
              <a:srgbClr val="FFFA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9460" cy="2502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6351" y="3148267"/>
            <a:ext cx="13355298" cy="3790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53"/>
              </a:lnSpc>
            </a:pPr>
            <a:r>
              <a:rPr lang="en-US" sz="10895" b="true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Super Store Sales</a:t>
            </a:r>
          </a:p>
          <a:p>
            <a:pPr algn="ctr">
              <a:lnSpc>
                <a:spcPts val="15253"/>
              </a:lnSpc>
              <a:spcBef>
                <a:spcPct val="0"/>
              </a:spcBef>
            </a:pPr>
            <a:r>
              <a:rPr lang="en-US" b="true" sz="10895">
                <a:solidFill>
                  <a:srgbClr val="FF7F1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 Dataset Project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738718" y="334451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94435" y="3109821"/>
            <a:ext cx="14499130" cy="2269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56"/>
              </a:lnSpc>
              <a:spcBef>
                <a:spcPct val="0"/>
              </a:spcBef>
            </a:pPr>
            <a:r>
              <a:rPr lang="en-US" sz="13040">
                <a:solidFill>
                  <a:srgbClr val="004AAD"/>
                </a:solidFill>
                <a:latin typeface="Bobby Jones"/>
                <a:ea typeface="Bobby Jones"/>
                <a:cs typeface="Bobby Jones"/>
                <a:sym typeface="Bobby Jones"/>
              </a:rPr>
              <a:t>W</a:t>
            </a:r>
            <a:r>
              <a:rPr lang="en-US" sz="13040">
                <a:solidFill>
                  <a:srgbClr val="FF7F1C"/>
                </a:solidFill>
                <a:latin typeface="Bobby Jones"/>
                <a:ea typeface="Bobby Jones"/>
                <a:cs typeface="Bobby Jones"/>
                <a:sym typeface="Bobby Jones"/>
              </a:rPr>
              <a:t>E</a:t>
            </a:r>
            <a:r>
              <a:rPr lang="en-US" sz="13040">
                <a:solidFill>
                  <a:srgbClr val="004AAD"/>
                </a:solidFill>
                <a:latin typeface="Bobby Jones"/>
                <a:ea typeface="Bobby Jones"/>
                <a:cs typeface="Bobby Jones"/>
                <a:sym typeface="Bobby Jones"/>
              </a:rPr>
              <a:t>L</a:t>
            </a:r>
            <a:r>
              <a:rPr lang="en-US" sz="13040">
                <a:solidFill>
                  <a:srgbClr val="FF7F1C"/>
                </a:solidFill>
                <a:latin typeface="Bobby Jones"/>
                <a:ea typeface="Bobby Jones"/>
                <a:cs typeface="Bobby Jones"/>
                <a:sym typeface="Bobby Jones"/>
              </a:rPr>
              <a:t>C</a:t>
            </a:r>
            <a:r>
              <a:rPr lang="en-US" sz="13040">
                <a:solidFill>
                  <a:srgbClr val="004AAD"/>
                </a:solidFill>
                <a:latin typeface="Bobby Jones"/>
                <a:ea typeface="Bobby Jones"/>
                <a:cs typeface="Bobby Jones"/>
                <a:sym typeface="Bobby Jones"/>
              </a:rPr>
              <a:t>O</a:t>
            </a:r>
            <a:r>
              <a:rPr lang="en-US" sz="13040">
                <a:solidFill>
                  <a:srgbClr val="FF7F1C"/>
                </a:solidFill>
                <a:latin typeface="Bobby Jones"/>
                <a:ea typeface="Bobby Jones"/>
                <a:cs typeface="Bobby Jones"/>
                <a:sym typeface="Bobby Jones"/>
              </a:rPr>
              <a:t>M</a:t>
            </a:r>
            <a:r>
              <a:rPr lang="en-US" sz="13040">
                <a:solidFill>
                  <a:srgbClr val="004AAD"/>
                </a:solidFill>
                <a:latin typeface="Bobby Jones"/>
                <a:ea typeface="Bobby Jones"/>
                <a:cs typeface="Bobby Jones"/>
                <a:sym typeface="Bobby Jones"/>
              </a:rPr>
              <a:t>E</a:t>
            </a:r>
            <a:r>
              <a:rPr lang="en-US" sz="13040">
                <a:solidFill>
                  <a:srgbClr val="FF7F1C"/>
                </a:solidFill>
                <a:latin typeface="Bobby Jones"/>
                <a:ea typeface="Bobby Jones"/>
                <a:cs typeface="Bobby Jones"/>
                <a:sym typeface="Bobby Jones"/>
              </a:rPr>
              <a:t>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801574" y="334451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229" y="492541"/>
            <a:ext cx="17501543" cy="9320968"/>
            <a:chOff x="0" y="0"/>
            <a:chExt cx="4609460" cy="2454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9460" cy="2454905"/>
            </a:xfrm>
            <a:custGeom>
              <a:avLst/>
              <a:gdLst/>
              <a:ahLst/>
              <a:cxnLst/>
              <a:rect r="r" b="b" t="t" l="l"/>
              <a:pathLst>
                <a:path h="2454905" w="4609460">
                  <a:moveTo>
                    <a:pt x="22560" y="0"/>
                  </a:moveTo>
                  <a:lnTo>
                    <a:pt x="4586899" y="0"/>
                  </a:lnTo>
                  <a:cubicBezTo>
                    <a:pt x="4599359" y="0"/>
                    <a:pt x="4609460" y="10101"/>
                    <a:pt x="4609460" y="22560"/>
                  </a:cubicBezTo>
                  <a:lnTo>
                    <a:pt x="4609460" y="2432345"/>
                  </a:lnTo>
                  <a:cubicBezTo>
                    <a:pt x="4609460" y="2444805"/>
                    <a:pt x="4599359" y="2454905"/>
                    <a:pt x="4586899" y="2454905"/>
                  </a:cubicBezTo>
                  <a:lnTo>
                    <a:pt x="22560" y="2454905"/>
                  </a:lnTo>
                  <a:cubicBezTo>
                    <a:pt x="16577" y="2454905"/>
                    <a:pt x="10839" y="2452528"/>
                    <a:pt x="6608" y="2448297"/>
                  </a:cubicBezTo>
                  <a:cubicBezTo>
                    <a:pt x="2377" y="2444067"/>
                    <a:pt x="0" y="2438328"/>
                    <a:pt x="0" y="2432345"/>
                  </a:cubicBezTo>
                  <a:lnTo>
                    <a:pt x="0" y="22560"/>
                  </a:lnTo>
                  <a:cubicBezTo>
                    <a:pt x="0" y="16577"/>
                    <a:pt x="2377" y="10839"/>
                    <a:pt x="6608" y="6608"/>
                  </a:cubicBezTo>
                  <a:cubicBezTo>
                    <a:pt x="10839" y="2377"/>
                    <a:pt x="16577" y="0"/>
                    <a:pt x="22560" y="0"/>
                  </a:cubicBezTo>
                  <a:close/>
                </a:path>
              </a:pathLst>
            </a:custGeom>
            <a:solidFill>
              <a:srgbClr val="FFFA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9460" cy="2502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749973" y="4016907"/>
            <a:ext cx="5940786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7F1C"/>
                </a:solidFill>
                <a:latin typeface="Muli Regular"/>
                <a:ea typeface="Muli Regular"/>
                <a:cs typeface="Muli Regular"/>
                <a:sym typeface="Muli Regular"/>
              </a:rPr>
              <a:t>Reham Nagaty (</a:t>
            </a:r>
            <a:r>
              <a:rPr lang="en-US" sz="3399">
                <a:solidFill>
                  <a:srgbClr val="004AAD"/>
                </a:solidFill>
                <a:latin typeface="Muli Regular"/>
                <a:ea typeface="Muli Regular"/>
                <a:cs typeface="Muli Regular"/>
                <a:sym typeface="Muli Regular"/>
              </a:rPr>
              <a:t>Leader</a:t>
            </a:r>
            <a:r>
              <a:rPr lang="en-US" sz="3399">
                <a:solidFill>
                  <a:srgbClr val="FF7F1C"/>
                </a:solidFill>
                <a:latin typeface="Muli Regular"/>
                <a:ea typeface="Muli Regular"/>
                <a:cs typeface="Muli Regular"/>
                <a:sym typeface="Muli Regular"/>
              </a:rPr>
              <a:t>)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49973" y="4572635"/>
            <a:ext cx="5940786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7F1C"/>
                </a:solidFill>
                <a:latin typeface="Muli Regular"/>
                <a:ea typeface="Muli Regular"/>
                <a:cs typeface="Muli Regular"/>
                <a:sym typeface="Muli Regular"/>
              </a:rPr>
              <a:t>Eman Ramadan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42721" y="5086350"/>
            <a:ext cx="5948039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7F1C"/>
                </a:solidFill>
                <a:latin typeface="Muli Regular"/>
                <a:ea typeface="Muli Regular"/>
                <a:cs typeface="Muli Regular"/>
                <a:sym typeface="Muli Regular"/>
              </a:rPr>
              <a:t>Mahmoud Ahmed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42721" y="5600065"/>
            <a:ext cx="5948039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7F1C"/>
                </a:solidFill>
                <a:latin typeface="Muli Regular"/>
                <a:ea typeface="Muli Regular"/>
                <a:cs typeface="Muli Regular"/>
                <a:sym typeface="Muli Regular"/>
              </a:rPr>
              <a:t>Khaled Ahmed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49973" y="6113780"/>
            <a:ext cx="5940786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7F1C"/>
                </a:solidFill>
                <a:latin typeface="Muli Regular"/>
                <a:ea typeface="Muli Regular"/>
                <a:cs typeface="Muli Regular"/>
                <a:sym typeface="Muli Regular"/>
              </a:rPr>
              <a:t>Seif Mohamed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59498" y="6596227"/>
            <a:ext cx="5931261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7F1C"/>
                </a:solidFill>
                <a:latin typeface="Muli Regular"/>
                <a:ea typeface="Muli Regular"/>
                <a:cs typeface="Muli Regular"/>
                <a:sym typeface="Muli Regular"/>
              </a:rPr>
              <a:t>Tarek Yehyia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13412" y="2030877"/>
            <a:ext cx="6354694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4AAD"/>
                </a:solidFill>
                <a:latin typeface="Bobby Jones"/>
                <a:ea typeface="Bobby Jones"/>
                <a:cs typeface="Bobby Jones"/>
                <a:sym typeface="Bobby Jones"/>
              </a:rPr>
              <a:t> TEAM MEMBERS: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738718" y="334451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229" y="483016"/>
            <a:ext cx="17501543" cy="9320968"/>
            <a:chOff x="0" y="0"/>
            <a:chExt cx="4609460" cy="2454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9460" cy="2454905"/>
            </a:xfrm>
            <a:custGeom>
              <a:avLst/>
              <a:gdLst/>
              <a:ahLst/>
              <a:cxnLst/>
              <a:rect r="r" b="b" t="t" l="l"/>
              <a:pathLst>
                <a:path h="2454905" w="4609460">
                  <a:moveTo>
                    <a:pt x="22560" y="0"/>
                  </a:moveTo>
                  <a:lnTo>
                    <a:pt x="4586899" y="0"/>
                  </a:lnTo>
                  <a:cubicBezTo>
                    <a:pt x="4599359" y="0"/>
                    <a:pt x="4609460" y="10101"/>
                    <a:pt x="4609460" y="22560"/>
                  </a:cubicBezTo>
                  <a:lnTo>
                    <a:pt x="4609460" y="2432345"/>
                  </a:lnTo>
                  <a:cubicBezTo>
                    <a:pt x="4609460" y="2444805"/>
                    <a:pt x="4599359" y="2454905"/>
                    <a:pt x="4586899" y="2454905"/>
                  </a:cubicBezTo>
                  <a:lnTo>
                    <a:pt x="22560" y="2454905"/>
                  </a:lnTo>
                  <a:cubicBezTo>
                    <a:pt x="16577" y="2454905"/>
                    <a:pt x="10839" y="2452528"/>
                    <a:pt x="6608" y="2448297"/>
                  </a:cubicBezTo>
                  <a:cubicBezTo>
                    <a:pt x="2377" y="2444067"/>
                    <a:pt x="0" y="2438328"/>
                    <a:pt x="0" y="2432345"/>
                  </a:cubicBezTo>
                  <a:lnTo>
                    <a:pt x="0" y="22560"/>
                  </a:lnTo>
                  <a:cubicBezTo>
                    <a:pt x="0" y="16577"/>
                    <a:pt x="2377" y="10839"/>
                    <a:pt x="6608" y="6608"/>
                  </a:cubicBezTo>
                  <a:cubicBezTo>
                    <a:pt x="10839" y="2377"/>
                    <a:pt x="16577" y="0"/>
                    <a:pt x="22560" y="0"/>
                  </a:cubicBezTo>
                  <a:close/>
                </a:path>
              </a:pathLst>
            </a:custGeom>
            <a:solidFill>
              <a:srgbClr val="FAF9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9460" cy="2502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26741" y="2136316"/>
            <a:ext cx="3127859" cy="117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25"/>
              </a:lnSpc>
            </a:pPr>
            <a:r>
              <a:rPr lang="en-US" b="true" sz="8500" spc="-170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Idea...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8150" y="4017088"/>
            <a:ext cx="9406179" cy="1118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59"/>
              </a:lnSpc>
            </a:pPr>
            <a:r>
              <a:rPr lang="en-US" b="true" sz="3899">
                <a:solidFill>
                  <a:srgbClr val="FF7F1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Da</a:t>
            </a:r>
            <a:r>
              <a:rPr lang="en-US" b="true" sz="3899">
                <a:solidFill>
                  <a:srgbClr val="FF7F1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taset content:</a:t>
            </a:r>
            <a:r>
              <a:rPr lang="en-US" sz="3899">
                <a:solidFill>
                  <a:srgbClr val="FF7F1C"/>
                </a:solidFill>
                <a:latin typeface="Muli Regular"/>
                <a:ea typeface="Muli Regular"/>
                <a:cs typeface="Muli Regular"/>
                <a:sym typeface="Muli Regular"/>
              </a:rPr>
              <a:t> 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>
                <a:solidFill>
                  <a:srgbClr val="FF7F1C"/>
                </a:solidFill>
                <a:latin typeface="Muli Regular"/>
                <a:ea typeface="Muli Regular"/>
                <a:cs typeface="Muli Regular"/>
                <a:sym typeface="Muli Regular"/>
              </a:rPr>
              <a:t>◦</a:t>
            </a:r>
            <a:r>
              <a:rPr lang="en-US" sz="2499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 Retail dataset of sales for global superstore for 4 years.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6741" y="5326336"/>
            <a:ext cx="14660415" cy="1557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 b="true">
                <a:solidFill>
                  <a:srgbClr val="FF7F1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 Analysis: </a:t>
            </a:r>
          </a:p>
          <a:p>
            <a:pPr algn="just" marL="0" indent="0" lvl="0">
              <a:lnSpc>
                <a:spcPts val="3499"/>
              </a:lnSpc>
            </a:pPr>
            <a:r>
              <a:rPr lang="en-US" b="true" sz="2499">
                <a:solidFill>
                  <a:srgbClr val="FF7F1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◦</a:t>
            </a:r>
            <a:r>
              <a:rPr lang="en-US" sz="2499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Show how </a:t>
            </a:r>
            <a:r>
              <a:rPr lang="en-US" sz="2499" u="sng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cus</a:t>
            </a:r>
            <a:r>
              <a:rPr lang="en-US" sz="2499" u="sng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tomer purchases</a:t>
            </a:r>
            <a:r>
              <a:rPr lang="en-US" sz="2499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 evolved over the 4 years and use the dataset to </a:t>
            </a:r>
            <a:r>
              <a:rPr lang="en-US" sz="2499" u="sng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highlight growth opportunities and risks</a:t>
            </a:r>
            <a:r>
              <a:rPr lang="en-US" sz="2499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. </a:t>
            </a:r>
          </a:p>
        </p:txBody>
      </p:sp>
      <p:sp>
        <p:nvSpPr>
          <p:cNvPr name="AutoShape 8" id="8"/>
          <p:cNvSpPr/>
          <p:nvPr/>
        </p:nvSpPr>
        <p:spPr>
          <a:xfrm>
            <a:off x="1326741" y="3326943"/>
            <a:ext cx="14300951" cy="0"/>
          </a:xfrm>
          <a:prstGeom prst="line">
            <a:avLst/>
          </a:prstGeom>
          <a:ln cap="flat" w="38100">
            <a:solidFill>
              <a:srgbClr val="0501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5738718" y="334451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4058" y="612657"/>
            <a:ext cx="17501543" cy="9320968"/>
            <a:chOff x="0" y="0"/>
            <a:chExt cx="4609460" cy="2454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9460" cy="2454905"/>
            </a:xfrm>
            <a:custGeom>
              <a:avLst/>
              <a:gdLst/>
              <a:ahLst/>
              <a:cxnLst/>
              <a:rect r="r" b="b" t="t" l="l"/>
              <a:pathLst>
                <a:path h="2454905" w="4609460">
                  <a:moveTo>
                    <a:pt x="22560" y="0"/>
                  </a:moveTo>
                  <a:lnTo>
                    <a:pt x="4586899" y="0"/>
                  </a:lnTo>
                  <a:cubicBezTo>
                    <a:pt x="4599359" y="0"/>
                    <a:pt x="4609460" y="10101"/>
                    <a:pt x="4609460" y="22560"/>
                  </a:cubicBezTo>
                  <a:lnTo>
                    <a:pt x="4609460" y="2432345"/>
                  </a:lnTo>
                  <a:cubicBezTo>
                    <a:pt x="4609460" y="2444805"/>
                    <a:pt x="4599359" y="2454905"/>
                    <a:pt x="4586899" y="2454905"/>
                  </a:cubicBezTo>
                  <a:lnTo>
                    <a:pt x="22560" y="2454905"/>
                  </a:lnTo>
                  <a:cubicBezTo>
                    <a:pt x="16577" y="2454905"/>
                    <a:pt x="10839" y="2452528"/>
                    <a:pt x="6608" y="2448297"/>
                  </a:cubicBezTo>
                  <a:cubicBezTo>
                    <a:pt x="2377" y="2444067"/>
                    <a:pt x="0" y="2438328"/>
                    <a:pt x="0" y="2432345"/>
                  </a:cubicBezTo>
                  <a:lnTo>
                    <a:pt x="0" y="22560"/>
                  </a:lnTo>
                  <a:cubicBezTo>
                    <a:pt x="0" y="16577"/>
                    <a:pt x="2377" y="10839"/>
                    <a:pt x="6608" y="6608"/>
                  </a:cubicBezTo>
                  <a:cubicBezTo>
                    <a:pt x="10839" y="2377"/>
                    <a:pt x="16577" y="0"/>
                    <a:pt x="22560" y="0"/>
                  </a:cubicBezTo>
                  <a:close/>
                </a:path>
              </a:pathLst>
            </a:custGeom>
            <a:solidFill>
              <a:srgbClr val="FAF9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9460" cy="2502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378150" y="2755976"/>
            <a:ext cx="16050547" cy="0"/>
          </a:xfrm>
          <a:prstGeom prst="line">
            <a:avLst/>
          </a:prstGeom>
          <a:ln cap="flat" w="38100">
            <a:solidFill>
              <a:srgbClr val="0501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763474" y="334451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93857" y="3999628"/>
            <a:ext cx="5296347" cy="5549825"/>
          </a:xfrm>
          <a:custGeom>
            <a:avLst/>
            <a:gdLst/>
            <a:ahLst/>
            <a:cxnLst/>
            <a:rect r="r" b="b" t="t" l="l"/>
            <a:pathLst>
              <a:path h="5549825" w="5296347">
                <a:moveTo>
                  <a:pt x="0" y="0"/>
                </a:moveTo>
                <a:lnTo>
                  <a:pt x="5296347" y="0"/>
                </a:lnTo>
                <a:lnTo>
                  <a:pt x="5296347" y="5549825"/>
                </a:lnTo>
                <a:lnTo>
                  <a:pt x="0" y="5549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26741" y="1471130"/>
            <a:ext cx="8258564" cy="117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25"/>
              </a:lnSpc>
            </a:pPr>
            <a:r>
              <a:rPr lang="en-US" b="true" sz="8500" spc="-170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Dataset </a:t>
            </a:r>
            <a:r>
              <a:rPr lang="en-US" b="true" sz="8500" spc="-170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Info...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6741" y="3207284"/>
            <a:ext cx="4129282" cy="111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59"/>
              </a:lnSpc>
            </a:pPr>
            <a:r>
              <a:rPr lang="en-US" b="true" sz="3900">
                <a:solidFill>
                  <a:srgbClr val="FF7F1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Da</a:t>
            </a:r>
            <a:r>
              <a:rPr lang="en-US" b="true" sz="3900">
                <a:solidFill>
                  <a:srgbClr val="FF7F1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taset content:</a:t>
            </a:r>
            <a:r>
              <a:rPr lang="en-US" sz="3900">
                <a:solidFill>
                  <a:srgbClr val="FF7F1C"/>
                </a:solidFill>
                <a:latin typeface="Muli Regular"/>
                <a:ea typeface="Muli Regular"/>
                <a:cs typeface="Muli Regular"/>
                <a:sym typeface="Muli Regular"/>
              </a:rPr>
              <a:t> 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9801 row, </a:t>
            </a:r>
            <a:r>
              <a:rPr lang="en-US" sz="2499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18</a:t>
            </a:r>
            <a:r>
              <a:rPr lang="en-US" sz="2499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 columns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08983" y="3207284"/>
            <a:ext cx="2666096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59"/>
              </a:lnSpc>
            </a:pPr>
            <a:r>
              <a:rPr lang="en-US" b="true" sz="3900">
                <a:solidFill>
                  <a:srgbClr val="FF7F1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 Da</a:t>
            </a:r>
            <a:r>
              <a:rPr lang="en-US" b="true" sz="3900">
                <a:solidFill>
                  <a:srgbClr val="FF7F1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ta Type: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55811" y="3207284"/>
            <a:ext cx="5972886" cy="219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FF7F1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Date not fully cleaned: </a:t>
            </a:r>
          </a:p>
          <a:p>
            <a:pPr algn="just" marL="0" indent="0" lvl="0">
              <a:lnSpc>
                <a:spcPts val="4021"/>
              </a:lnSpc>
            </a:pPr>
            <a:r>
              <a:rPr lang="en-US" sz="2872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W</a:t>
            </a:r>
            <a:r>
              <a:rPr lang="en-US" sz="2872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e have missing values in </a:t>
            </a:r>
            <a:r>
              <a:rPr lang="en-US" sz="2872" u="sng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postal code</a:t>
            </a:r>
            <a:r>
              <a:rPr lang="en-US" sz="2872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 column we will replace it with the postal code of the city.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229" y="483016"/>
            <a:ext cx="17501543" cy="9320968"/>
            <a:chOff x="0" y="0"/>
            <a:chExt cx="4609460" cy="2454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9460" cy="2454905"/>
            </a:xfrm>
            <a:custGeom>
              <a:avLst/>
              <a:gdLst/>
              <a:ahLst/>
              <a:cxnLst/>
              <a:rect r="r" b="b" t="t" l="l"/>
              <a:pathLst>
                <a:path h="2454905" w="4609460">
                  <a:moveTo>
                    <a:pt x="22560" y="0"/>
                  </a:moveTo>
                  <a:lnTo>
                    <a:pt x="4586899" y="0"/>
                  </a:lnTo>
                  <a:cubicBezTo>
                    <a:pt x="4599359" y="0"/>
                    <a:pt x="4609460" y="10101"/>
                    <a:pt x="4609460" y="22560"/>
                  </a:cubicBezTo>
                  <a:lnTo>
                    <a:pt x="4609460" y="2432345"/>
                  </a:lnTo>
                  <a:cubicBezTo>
                    <a:pt x="4609460" y="2444805"/>
                    <a:pt x="4599359" y="2454905"/>
                    <a:pt x="4586899" y="2454905"/>
                  </a:cubicBezTo>
                  <a:lnTo>
                    <a:pt x="22560" y="2454905"/>
                  </a:lnTo>
                  <a:cubicBezTo>
                    <a:pt x="16577" y="2454905"/>
                    <a:pt x="10839" y="2452528"/>
                    <a:pt x="6608" y="2448297"/>
                  </a:cubicBezTo>
                  <a:cubicBezTo>
                    <a:pt x="2377" y="2444067"/>
                    <a:pt x="0" y="2438328"/>
                    <a:pt x="0" y="2432345"/>
                  </a:cubicBezTo>
                  <a:lnTo>
                    <a:pt x="0" y="22560"/>
                  </a:lnTo>
                  <a:cubicBezTo>
                    <a:pt x="0" y="16577"/>
                    <a:pt x="2377" y="10839"/>
                    <a:pt x="6608" y="6608"/>
                  </a:cubicBezTo>
                  <a:cubicBezTo>
                    <a:pt x="10839" y="2377"/>
                    <a:pt x="16577" y="0"/>
                    <a:pt x="22560" y="0"/>
                  </a:cubicBezTo>
                  <a:close/>
                </a:path>
              </a:pathLst>
            </a:custGeom>
            <a:solidFill>
              <a:srgbClr val="FFFA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9460" cy="2502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84740" y="1308258"/>
            <a:ext cx="15073052" cy="14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  <a:spcBef>
                <a:spcPct val="0"/>
              </a:spcBef>
            </a:pPr>
            <a:r>
              <a:rPr lang="en-US" b="true" sz="8499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Analysis Recommendations...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24391" y="3264390"/>
            <a:ext cx="11342963" cy="417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7F1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 Current Data Analysis: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◦ Sales Trend Over Time.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◦ Top-Performing Segments &amp; Regions.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◦ Best &amp; Worst Products.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◦ Customer Insights.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◦ Opportunities.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◦ Shipping Efficiency.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738718" y="334451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1486466" y="2870485"/>
            <a:ext cx="10779736" cy="0"/>
          </a:xfrm>
          <a:prstGeom prst="line">
            <a:avLst/>
          </a:prstGeom>
          <a:ln cap="flat" w="38100">
            <a:solidFill>
              <a:srgbClr val="05015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229" y="483016"/>
            <a:ext cx="17501543" cy="9320968"/>
            <a:chOff x="0" y="0"/>
            <a:chExt cx="4609460" cy="2454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9460" cy="2454905"/>
            </a:xfrm>
            <a:custGeom>
              <a:avLst/>
              <a:gdLst/>
              <a:ahLst/>
              <a:cxnLst/>
              <a:rect r="r" b="b" t="t" l="l"/>
              <a:pathLst>
                <a:path h="2454905" w="4609460">
                  <a:moveTo>
                    <a:pt x="22560" y="0"/>
                  </a:moveTo>
                  <a:lnTo>
                    <a:pt x="4586899" y="0"/>
                  </a:lnTo>
                  <a:cubicBezTo>
                    <a:pt x="4599359" y="0"/>
                    <a:pt x="4609460" y="10101"/>
                    <a:pt x="4609460" y="22560"/>
                  </a:cubicBezTo>
                  <a:lnTo>
                    <a:pt x="4609460" y="2432345"/>
                  </a:lnTo>
                  <a:cubicBezTo>
                    <a:pt x="4609460" y="2444805"/>
                    <a:pt x="4599359" y="2454905"/>
                    <a:pt x="4586899" y="2454905"/>
                  </a:cubicBezTo>
                  <a:lnTo>
                    <a:pt x="22560" y="2454905"/>
                  </a:lnTo>
                  <a:cubicBezTo>
                    <a:pt x="16577" y="2454905"/>
                    <a:pt x="10839" y="2452528"/>
                    <a:pt x="6608" y="2448297"/>
                  </a:cubicBezTo>
                  <a:cubicBezTo>
                    <a:pt x="2377" y="2444067"/>
                    <a:pt x="0" y="2438328"/>
                    <a:pt x="0" y="2432345"/>
                  </a:cubicBezTo>
                  <a:lnTo>
                    <a:pt x="0" y="22560"/>
                  </a:lnTo>
                  <a:cubicBezTo>
                    <a:pt x="0" y="16577"/>
                    <a:pt x="2377" y="10839"/>
                    <a:pt x="6608" y="6608"/>
                  </a:cubicBezTo>
                  <a:cubicBezTo>
                    <a:pt x="10839" y="2377"/>
                    <a:pt x="16577" y="0"/>
                    <a:pt x="22560" y="0"/>
                  </a:cubicBezTo>
                  <a:close/>
                </a:path>
              </a:pathLst>
            </a:custGeom>
            <a:solidFill>
              <a:srgbClr val="FAF9F0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9460" cy="2502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26741" y="1860091"/>
            <a:ext cx="14924022" cy="2305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25"/>
              </a:lnSpc>
            </a:pPr>
            <a:r>
              <a:rPr lang="en-US" b="true" sz="8500" spc="-170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Where shoul</a:t>
            </a:r>
            <a:r>
              <a:rPr lang="en-US" b="true" sz="8500" spc="-170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d the superstore invest next?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6577" y="5076825"/>
            <a:ext cx="14704395" cy="2490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77"/>
              </a:lnSpc>
            </a:pPr>
            <a:r>
              <a:rPr lang="en-US" b="true" sz="3555">
                <a:solidFill>
                  <a:srgbClr val="050150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◦ Show grow</a:t>
            </a:r>
            <a:r>
              <a:rPr lang="en-US" b="true" sz="3555">
                <a:solidFill>
                  <a:srgbClr val="050150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th areas (ex: strong sales in Technology). </a:t>
            </a:r>
          </a:p>
          <a:p>
            <a:pPr algn="just" marL="0" indent="0" lvl="0">
              <a:lnSpc>
                <a:spcPts val="4977"/>
              </a:lnSpc>
            </a:pPr>
            <a:r>
              <a:rPr lang="en-US" b="true" sz="3555">
                <a:solidFill>
                  <a:srgbClr val="050150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◦ Show risks (ex: long shipping times in certain regions). </a:t>
            </a:r>
          </a:p>
          <a:p>
            <a:pPr algn="just" marL="0" indent="0" lvl="0">
              <a:lnSpc>
                <a:spcPts val="4977"/>
              </a:lnSpc>
            </a:pPr>
            <a:r>
              <a:rPr lang="en-US" b="true" sz="3555">
                <a:solidFill>
                  <a:srgbClr val="050150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◦ Suggest opportunities (ex: invest in faster logistics, push profitable</a:t>
            </a:r>
          </a:p>
          <a:p>
            <a:pPr algn="just" marL="0" indent="0" lvl="0">
              <a:lnSpc>
                <a:spcPts val="4977"/>
              </a:lnSpc>
            </a:pPr>
            <a:r>
              <a:rPr lang="en-US" b="true" sz="3555">
                <a:solidFill>
                  <a:srgbClr val="050150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     categories, nurture repeat customers).</a:t>
            </a:r>
          </a:p>
        </p:txBody>
      </p:sp>
      <p:sp>
        <p:nvSpPr>
          <p:cNvPr name="AutoShape 7" id="7"/>
          <p:cNvSpPr/>
          <p:nvPr/>
        </p:nvSpPr>
        <p:spPr>
          <a:xfrm>
            <a:off x="1326741" y="4184193"/>
            <a:ext cx="14822296" cy="0"/>
          </a:xfrm>
          <a:prstGeom prst="line">
            <a:avLst/>
          </a:prstGeom>
          <a:ln cap="flat" w="38100">
            <a:solidFill>
              <a:srgbClr val="0501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738718" y="334451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229" y="2602685"/>
            <a:ext cx="17501543" cy="4314829"/>
            <a:chOff x="0" y="0"/>
            <a:chExt cx="4609460" cy="1136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9460" cy="1136416"/>
            </a:xfrm>
            <a:custGeom>
              <a:avLst/>
              <a:gdLst/>
              <a:ahLst/>
              <a:cxnLst/>
              <a:rect r="r" b="b" t="t" l="l"/>
              <a:pathLst>
                <a:path h="1136416" w="4609460">
                  <a:moveTo>
                    <a:pt x="22560" y="0"/>
                  </a:moveTo>
                  <a:lnTo>
                    <a:pt x="4586899" y="0"/>
                  </a:lnTo>
                  <a:cubicBezTo>
                    <a:pt x="4599359" y="0"/>
                    <a:pt x="4609460" y="10101"/>
                    <a:pt x="4609460" y="22560"/>
                  </a:cubicBezTo>
                  <a:lnTo>
                    <a:pt x="4609460" y="1113856"/>
                  </a:lnTo>
                  <a:cubicBezTo>
                    <a:pt x="4609460" y="1126315"/>
                    <a:pt x="4599359" y="1136416"/>
                    <a:pt x="4586899" y="1136416"/>
                  </a:cubicBezTo>
                  <a:lnTo>
                    <a:pt x="22560" y="1136416"/>
                  </a:lnTo>
                  <a:cubicBezTo>
                    <a:pt x="16577" y="1136416"/>
                    <a:pt x="10839" y="1134039"/>
                    <a:pt x="6608" y="1129808"/>
                  </a:cubicBezTo>
                  <a:cubicBezTo>
                    <a:pt x="2377" y="1125577"/>
                    <a:pt x="0" y="1119839"/>
                    <a:pt x="0" y="1113856"/>
                  </a:cubicBezTo>
                  <a:lnTo>
                    <a:pt x="0" y="22560"/>
                  </a:lnTo>
                  <a:cubicBezTo>
                    <a:pt x="0" y="16577"/>
                    <a:pt x="2377" y="10839"/>
                    <a:pt x="6608" y="6608"/>
                  </a:cubicBezTo>
                  <a:cubicBezTo>
                    <a:pt x="10839" y="2377"/>
                    <a:pt x="16577" y="0"/>
                    <a:pt x="22560" y="0"/>
                  </a:cubicBezTo>
                  <a:close/>
                </a:path>
              </a:pathLst>
            </a:custGeom>
            <a:solidFill>
              <a:srgbClr val="FFFA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9460" cy="1184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54315" y="3494659"/>
            <a:ext cx="18288000" cy="2254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0"/>
              </a:lnSpc>
              <a:spcBef>
                <a:spcPct val="0"/>
              </a:spcBef>
            </a:pPr>
            <a:r>
              <a:rPr lang="en-US" sz="12992">
                <a:solidFill>
                  <a:srgbClr val="FF7F1C"/>
                </a:solidFill>
                <a:latin typeface="Bobby Jones"/>
                <a:ea typeface="Bobby Jones"/>
                <a:cs typeface="Bobby Jones"/>
                <a:sym typeface="Bobby Jones"/>
              </a:rPr>
              <a:t>OUR AWESOME PROJECTS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738718" y="470246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229" y="483016"/>
            <a:ext cx="17501543" cy="9320968"/>
            <a:chOff x="0" y="0"/>
            <a:chExt cx="4609460" cy="2454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9460" cy="2454905"/>
            </a:xfrm>
            <a:custGeom>
              <a:avLst/>
              <a:gdLst/>
              <a:ahLst/>
              <a:cxnLst/>
              <a:rect r="r" b="b" t="t" l="l"/>
              <a:pathLst>
                <a:path h="2454905" w="4609460">
                  <a:moveTo>
                    <a:pt x="22560" y="0"/>
                  </a:moveTo>
                  <a:lnTo>
                    <a:pt x="4586899" y="0"/>
                  </a:lnTo>
                  <a:cubicBezTo>
                    <a:pt x="4599359" y="0"/>
                    <a:pt x="4609460" y="10101"/>
                    <a:pt x="4609460" y="22560"/>
                  </a:cubicBezTo>
                  <a:lnTo>
                    <a:pt x="4609460" y="2432345"/>
                  </a:lnTo>
                  <a:cubicBezTo>
                    <a:pt x="4609460" y="2444805"/>
                    <a:pt x="4599359" y="2454905"/>
                    <a:pt x="4586899" y="2454905"/>
                  </a:cubicBezTo>
                  <a:lnTo>
                    <a:pt x="22560" y="2454905"/>
                  </a:lnTo>
                  <a:cubicBezTo>
                    <a:pt x="16577" y="2454905"/>
                    <a:pt x="10839" y="2452528"/>
                    <a:pt x="6608" y="2448297"/>
                  </a:cubicBezTo>
                  <a:cubicBezTo>
                    <a:pt x="2377" y="2444067"/>
                    <a:pt x="0" y="2438328"/>
                    <a:pt x="0" y="2432345"/>
                  </a:cubicBezTo>
                  <a:lnTo>
                    <a:pt x="0" y="22560"/>
                  </a:lnTo>
                  <a:cubicBezTo>
                    <a:pt x="0" y="16577"/>
                    <a:pt x="2377" y="10839"/>
                    <a:pt x="6608" y="6608"/>
                  </a:cubicBezTo>
                  <a:cubicBezTo>
                    <a:pt x="10839" y="2377"/>
                    <a:pt x="16577" y="0"/>
                    <a:pt x="22560" y="0"/>
                  </a:cubicBezTo>
                  <a:close/>
                </a:path>
              </a:pathLst>
            </a:custGeom>
            <a:solidFill>
              <a:srgbClr val="FAF9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9460" cy="2502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6513" y="3331712"/>
            <a:ext cx="4859315" cy="1707490"/>
            <a:chOff x="0" y="0"/>
            <a:chExt cx="6479086" cy="2276654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479086" cy="2276654"/>
              <a:chOff x="0" y="0"/>
              <a:chExt cx="4911194" cy="172572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-4262"/>
                <a:ext cx="4918940" cy="1732206"/>
              </a:xfrm>
              <a:custGeom>
                <a:avLst/>
                <a:gdLst/>
                <a:ahLst/>
                <a:cxnLst/>
                <a:rect r="r" b="b" t="t" l="l"/>
                <a:pathLst>
                  <a:path h="1732206" w="4918940">
                    <a:moveTo>
                      <a:pt x="3980040" y="1721018"/>
                    </a:moveTo>
                    <a:cubicBezTo>
                      <a:pt x="3980040" y="1721018"/>
                      <a:pt x="3560288" y="1732206"/>
                      <a:pt x="3097703" y="1729584"/>
                    </a:cubicBezTo>
                    <a:cubicBezTo>
                      <a:pt x="1982318" y="1727422"/>
                      <a:pt x="1057073" y="1719597"/>
                      <a:pt x="1057073" y="1719597"/>
                    </a:cubicBezTo>
                    <a:cubicBezTo>
                      <a:pt x="812931" y="1710763"/>
                      <a:pt x="565145" y="1693782"/>
                      <a:pt x="398404" y="1635604"/>
                    </a:cubicBezTo>
                    <a:cubicBezTo>
                      <a:pt x="120505" y="1538642"/>
                      <a:pt x="0" y="1361114"/>
                      <a:pt x="0" y="744836"/>
                    </a:cubicBezTo>
                    <a:cubicBezTo>
                      <a:pt x="8536" y="440430"/>
                      <a:pt x="34263" y="311302"/>
                      <a:pt x="140291" y="225758"/>
                    </a:cubicBezTo>
                    <a:cubicBezTo>
                      <a:pt x="342602" y="62530"/>
                      <a:pt x="736658" y="7673"/>
                      <a:pt x="1155311" y="7673"/>
                    </a:cubicBezTo>
                    <a:cubicBezTo>
                      <a:pt x="1155311" y="7673"/>
                      <a:pt x="1551711" y="15681"/>
                      <a:pt x="2736199" y="7673"/>
                    </a:cubicBezTo>
                    <a:cubicBezTo>
                      <a:pt x="3341361" y="0"/>
                      <a:pt x="3805288" y="7673"/>
                      <a:pt x="3805288" y="7673"/>
                    </a:cubicBezTo>
                    <a:cubicBezTo>
                      <a:pt x="4173596" y="15152"/>
                      <a:pt x="4536909" y="84484"/>
                      <a:pt x="4734649" y="207066"/>
                    </a:cubicBezTo>
                    <a:cubicBezTo>
                      <a:pt x="4885666" y="300683"/>
                      <a:pt x="4918940" y="425358"/>
                      <a:pt x="4909800" y="744836"/>
                    </a:cubicBezTo>
                    <a:cubicBezTo>
                      <a:pt x="4909800" y="1479079"/>
                      <a:pt x="4626803" y="1693177"/>
                      <a:pt x="3980040" y="1721018"/>
                    </a:cubicBezTo>
                    <a:close/>
                  </a:path>
                </a:pathLst>
              </a:custGeom>
              <a:solidFill>
                <a:srgbClr val="7894FF"/>
              </a:solidFill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496493" y="366156"/>
              <a:ext cx="5486100" cy="1582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4620"/>
                </a:lnSpc>
                <a:spcBef>
                  <a:spcPct val="0"/>
                </a:spcBef>
              </a:pPr>
              <a:r>
                <a:rPr lang="en-US" sz="4200" spc="-84">
                  <a:solidFill>
                    <a:srgbClr val="050150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Questions Creation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527459" y="3331712"/>
            <a:ext cx="4496774" cy="1707490"/>
            <a:chOff x="0" y="0"/>
            <a:chExt cx="5995699" cy="227665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995699" cy="2276654"/>
              <a:chOff x="0" y="0"/>
              <a:chExt cx="4544783" cy="172572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-4262"/>
                <a:ext cx="4552529" cy="1732206"/>
              </a:xfrm>
              <a:custGeom>
                <a:avLst/>
                <a:gdLst/>
                <a:ahLst/>
                <a:cxnLst/>
                <a:rect r="r" b="b" t="t" l="l"/>
                <a:pathLst>
                  <a:path h="1732206" w="4552529">
                    <a:moveTo>
                      <a:pt x="3613629" y="1721018"/>
                    </a:moveTo>
                    <a:cubicBezTo>
                      <a:pt x="3613629" y="1721018"/>
                      <a:pt x="3193877" y="1732206"/>
                      <a:pt x="2731292" y="1729584"/>
                    </a:cubicBezTo>
                    <a:cubicBezTo>
                      <a:pt x="1883630" y="1727422"/>
                      <a:pt x="1057073" y="1719597"/>
                      <a:pt x="1057073" y="1719597"/>
                    </a:cubicBezTo>
                    <a:cubicBezTo>
                      <a:pt x="812931" y="1710763"/>
                      <a:pt x="565145" y="1693782"/>
                      <a:pt x="398404" y="1635604"/>
                    </a:cubicBezTo>
                    <a:cubicBezTo>
                      <a:pt x="120505" y="1538642"/>
                      <a:pt x="0" y="1361114"/>
                      <a:pt x="0" y="744836"/>
                    </a:cubicBezTo>
                    <a:cubicBezTo>
                      <a:pt x="8536" y="440430"/>
                      <a:pt x="34263" y="311302"/>
                      <a:pt x="140291" y="225758"/>
                    </a:cubicBezTo>
                    <a:cubicBezTo>
                      <a:pt x="342602" y="62530"/>
                      <a:pt x="736658" y="7673"/>
                      <a:pt x="1155311" y="7673"/>
                    </a:cubicBezTo>
                    <a:cubicBezTo>
                      <a:pt x="1155311" y="7673"/>
                      <a:pt x="1551711" y="15681"/>
                      <a:pt x="2450343" y="7673"/>
                    </a:cubicBezTo>
                    <a:cubicBezTo>
                      <a:pt x="2974950" y="0"/>
                      <a:pt x="3438877" y="7673"/>
                      <a:pt x="3438877" y="7673"/>
                    </a:cubicBezTo>
                    <a:cubicBezTo>
                      <a:pt x="3807185" y="15152"/>
                      <a:pt x="4170497" y="84484"/>
                      <a:pt x="4368238" y="207066"/>
                    </a:cubicBezTo>
                    <a:cubicBezTo>
                      <a:pt x="4519255" y="300683"/>
                      <a:pt x="4552529" y="425358"/>
                      <a:pt x="4543389" y="744836"/>
                    </a:cubicBezTo>
                    <a:cubicBezTo>
                      <a:pt x="4543389" y="1479079"/>
                      <a:pt x="4260392" y="1693177"/>
                      <a:pt x="3613629" y="1721018"/>
                    </a:cubicBezTo>
                    <a:close/>
                  </a:path>
                </a:pathLst>
              </a:custGeom>
              <a:solidFill>
                <a:srgbClr val="7894FF"/>
              </a:solid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459451" y="366156"/>
              <a:ext cx="5076796" cy="1582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4620"/>
                </a:lnSpc>
                <a:spcBef>
                  <a:spcPct val="0"/>
                </a:spcBef>
              </a:pPr>
              <a:r>
                <a:rPr lang="en-US" sz="4200" spc="-84">
                  <a:solidFill>
                    <a:srgbClr val="050150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Columns Creation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46366" y="3331712"/>
            <a:ext cx="4995268" cy="1707490"/>
            <a:chOff x="0" y="0"/>
            <a:chExt cx="6660357" cy="227665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660357" cy="2276654"/>
              <a:chOff x="0" y="0"/>
              <a:chExt cx="5048598" cy="172572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-4262"/>
                <a:ext cx="5056344" cy="1732206"/>
              </a:xfrm>
              <a:custGeom>
                <a:avLst/>
                <a:gdLst/>
                <a:ahLst/>
                <a:cxnLst/>
                <a:rect r="r" b="b" t="t" l="l"/>
                <a:pathLst>
                  <a:path h="1732206" w="5056344">
                    <a:moveTo>
                      <a:pt x="4117444" y="1721018"/>
                    </a:moveTo>
                    <a:cubicBezTo>
                      <a:pt x="4117444" y="1721018"/>
                      <a:pt x="3697692" y="1732206"/>
                      <a:pt x="3235107" y="1729584"/>
                    </a:cubicBezTo>
                    <a:cubicBezTo>
                      <a:pt x="2019326" y="1727422"/>
                      <a:pt x="1057073" y="1719597"/>
                      <a:pt x="1057073" y="1719597"/>
                    </a:cubicBezTo>
                    <a:cubicBezTo>
                      <a:pt x="812931" y="1710763"/>
                      <a:pt x="565145" y="1693782"/>
                      <a:pt x="398404" y="1635604"/>
                    </a:cubicBezTo>
                    <a:cubicBezTo>
                      <a:pt x="120505" y="1538642"/>
                      <a:pt x="0" y="1361114"/>
                      <a:pt x="0" y="744836"/>
                    </a:cubicBezTo>
                    <a:cubicBezTo>
                      <a:pt x="8536" y="440430"/>
                      <a:pt x="34263" y="311302"/>
                      <a:pt x="140291" y="225758"/>
                    </a:cubicBezTo>
                    <a:cubicBezTo>
                      <a:pt x="342602" y="62530"/>
                      <a:pt x="736658" y="7673"/>
                      <a:pt x="1155311" y="7673"/>
                    </a:cubicBezTo>
                    <a:cubicBezTo>
                      <a:pt x="1155311" y="7673"/>
                      <a:pt x="1551711" y="15681"/>
                      <a:pt x="2843395" y="7673"/>
                    </a:cubicBezTo>
                    <a:cubicBezTo>
                      <a:pt x="3478765" y="0"/>
                      <a:pt x="3942692" y="7673"/>
                      <a:pt x="3942692" y="7673"/>
                    </a:cubicBezTo>
                    <a:cubicBezTo>
                      <a:pt x="4311000" y="15152"/>
                      <a:pt x="4674313" y="84484"/>
                      <a:pt x="4872053" y="207066"/>
                    </a:cubicBezTo>
                    <a:cubicBezTo>
                      <a:pt x="5023070" y="300683"/>
                      <a:pt x="5056344" y="425358"/>
                      <a:pt x="5047204" y="744836"/>
                    </a:cubicBezTo>
                    <a:cubicBezTo>
                      <a:pt x="5047204" y="1479079"/>
                      <a:pt x="4764207" y="1693177"/>
                      <a:pt x="4117444" y="1721018"/>
                    </a:cubicBezTo>
                    <a:close/>
                  </a:path>
                </a:pathLst>
              </a:custGeom>
              <a:solidFill>
                <a:srgbClr val="7894FF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510384" y="366156"/>
              <a:ext cx="5639588" cy="1582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4620"/>
                </a:lnSpc>
                <a:spcBef>
                  <a:spcPct val="0"/>
                </a:spcBef>
              </a:pPr>
              <a:r>
                <a:rPr lang="en-US" sz="4200" spc="-84">
                  <a:solidFill>
                    <a:srgbClr val="050150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KPI Recommendation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01790" y="5787615"/>
            <a:ext cx="4481668" cy="1126465"/>
            <a:chOff x="0" y="0"/>
            <a:chExt cx="5975558" cy="1501954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5975558" cy="1501954"/>
              <a:chOff x="0" y="0"/>
              <a:chExt cx="4529516" cy="113849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-4262"/>
                <a:ext cx="4537262" cy="1144977"/>
              </a:xfrm>
              <a:custGeom>
                <a:avLst/>
                <a:gdLst/>
                <a:ahLst/>
                <a:cxnLst/>
                <a:rect r="r" b="b" t="t" l="l"/>
                <a:pathLst>
                  <a:path h="1144977" w="4537262">
                    <a:moveTo>
                      <a:pt x="3598362" y="1133790"/>
                    </a:moveTo>
                    <a:cubicBezTo>
                      <a:pt x="3598362" y="1133790"/>
                      <a:pt x="3178609" y="1144977"/>
                      <a:pt x="2716025" y="1142356"/>
                    </a:cubicBezTo>
                    <a:cubicBezTo>
                      <a:pt x="1879518" y="1140193"/>
                      <a:pt x="1057073" y="1132369"/>
                      <a:pt x="1057073" y="1132369"/>
                    </a:cubicBezTo>
                    <a:cubicBezTo>
                      <a:pt x="812931" y="1123535"/>
                      <a:pt x="565145" y="1106554"/>
                      <a:pt x="398404" y="1048376"/>
                    </a:cubicBezTo>
                    <a:cubicBezTo>
                      <a:pt x="120505" y="951414"/>
                      <a:pt x="0" y="773886"/>
                      <a:pt x="0" y="577265"/>
                    </a:cubicBezTo>
                    <a:cubicBezTo>
                      <a:pt x="8536" y="440430"/>
                      <a:pt x="34263" y="311302"/>
                      <a:pt x="140291" y="225758"/>
                    </a:cubicBezTo>
                    <a:cubicBezTo>
                      <a:pt x="342602" y="62530"/>
                      <a:pt x="736658" y="7673"/>
                      <a:pt x="1155311" y="7673"/>
                    </a:cubicBezTo>
                    <a:cubicBezTo>
                      <a:pt x="1155311" y="7673"/>
                      <a:pt x="1551711" y="15681"/>
                      <a:pt x="2438432" y="7673"/>
                    </a:cubicBezTo>
                    <a:cubicBezTo>
                      <a:pt x="2959683" y="0"/>
                      <a:pt x="3423610" y="7673"/>
                      <a:pt x="3423610" y="7673"/>
                    </a:cubicBezTo>
                    <a:cubicBezTo>
                      <a:pt x="3791918" y="15152"/>
                      <a:pt x="4155230" y="84484"/>
                      <a:pt x="4352971" y="207066"/>
                    </a:cubicBezTo>
                    <a:cubicBezTo>
                      <a:pt x="4503988" y="300683"/>
                      <a:pt x="4537262" y="425358"/>
                      <a:pt x="4528122" y="577265"/>
                    </a:cubicBezTo>
                    <a:cubicBezTo>
                      <a:pt x="4528122" y="891851"/>
                      <a:pt x="4245125" y="1105949"/>
                      <a:pt x="3598362" y="1133790"/>
                    </a:cubicBezTo>
                    <a:close/>
                  </a:path>
                </a:pathLst>
              </a:custGeom>
              <a:solidFill>
                <a:srgbClr val="7894FF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457908" y="366156"/>
              <a:ext cx="5059742" cy="807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4620"/>
                </a:lnSpc>
                <a:spcBef>
                  <a:spcPct val="0"/>
                </a:spcBef>
              </a:pPr>
              <a:r>
                <a:rPr lang="en-US" sz="4200" spc="-84">
                  <a:solidFill>
                    <a:srgbClr val="050150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Visualization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459488" y="5787615"/>
            <a:ext cx="5342702" cy="1707490"/>
            <a:chOff x="0" y="0"/>
            <a:chExt cx="7123603" cy="2276654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7123603" cy="2276654"/>
              <a:chOff x="0" y="0"/>
              <a:chExt cx="5399742" cy="172572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-4262"/>
                <a:ext cx="5407488" cy="1732206"/>
              </a:xfrm>
              <a:custGeom>
                <a:avLst/>
                <a:gdLst/>
                <a:ahLst/>
                <a:cxnLst/>
                <a:rect r="r" b="b" t="t" l="l"/>
                <a:pathLst>
                  <a:path h="1732206" w="5407488">
                    <a:moveTo>
                      <a:pt x="4468588" y="1721018"/>
                    </a:moveTo>
                    <a:cubicBezTo>
                      <a:pt x="4468588" y="1721018"/>
                      <a:pt x="4048836" y="1732206"/>
                      <a:pt x="3586251" y="1729584"/>
                    </a:cubicBezTo>
                    <a:cubicBezTo>
                      <a:pt x="2113901" y="1727422"/>
                      <a:pt x="1057073" y="1719597"/>
                      <a:pt x="1057073" y="1719597"/>
                    </a:cubicBezTo>
                    <a:cubicBezTo>
                      <a:pt x="812931" y="1710763"/>
                      <a:pt x="565145" y="1693782"/>
                      <a:pt x="398404" y="1635604"/>
                    </a:cubicBezTo>
                    <a:cubicBezTo>
                      <a:pt x="120505" y="1538642"/>
                      <a:pt x="0" y="1361114"/>
                      <a:pt x="0" y="744836"/>
                    </a:cubicBezTo>
                    <a:cubicBezTo>
                      <a:pt x="8536" y="440430"/>
                      <a:pt x="34263" y="311302"/>
                      <a:pt x="140291" y="225758"/>
                    </a:cubicBezTo>
                    <a:cubicBezTo>
                      <a:pt x="342602" y="62530"/>
                      <a:pt x="736658" y="7673"/>
                      <a:pt x="1155311" y="7673"/>
                    </a:cubicBezTo>
                    <a:cubicBezTo>
                      <a:pt x="1155311" y="7673"/>
                      <a:pt x="1551711" y="15681"/>
                      <a:pt x="3117341" y="7673"/>
                    </a:cubicBezTo>
                    <a:cubicBezTo>
                      <a:pt x="3829909" y="0"/>
                      <a:pt x="4293836" y="7673"/>
                      <a:pt x="4293836" y="7673"/>
                    </a:cubicBezTo>
                    <a:cubicBezTo>
                      <a:pt x="4662144" y="15152"/>
                      <a:pt x="5025457" y="84484"/>
                      <a:pt x="5223197" y="207066"/>
                    </a:cubicBezTo>
                    <a:cubicBezTo>
                      <a:pt x="5374214" y="300683"/>
                      <a:pt x="5407488" y="425358"/>
                      <a:pt x="5398348" y="744836"/>
                    </a:cubicBezTo>
                    <a:cubicBezTo>
                      <a:pt x="5398348" y="1479079"/>
                      <a:pt x="5115351" y="1693177"/>
                      <a:pt x="4468588" y="1721018"/>
                    </a:cubicBezTo>
                    <a:close/>
                  </a:path>
                </a:pathLst>
              </a:custGeom>
              <a:solidFill>
                <a:srgbClr val="7894FF"/>
              </a:solidFill>
            </p:spPr>
          </p:sp>
        </p:grpSp>
        <p:sp>
          <p:nvSpPr>
            <p:cNvPr name="TextBox 24" id="24"/>
            <p:cNvSpPr txBox="true"/>
            <p:nvPr/>
          </p:nvSpPr>
          <p:spPr>
            <a:xfrm rot="0">
              <a:off x="545883" y="366156"/>
              <a:ext cx="6031838" cy="1582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4620"/>
                </a:lnSpc>
                <a:spcBef>
                  <a:spcPct val="0"/>
                </a:spcBef>
              </a:pPr>
              <a:r>
                <a:rPr lang="en-US" sz="4200" spc="-84">
                  <a:solidFill>
                    <a:srgbClr val="050150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DAX Formula Creation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5738718" y="334451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28700" y="1026659"/>
            <a:ext cx="13868616" cy="2305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25"/>
              </a:lnSpc>
            </a:pPr>
            <a:r>
              <a:rPr lang="en-US" b="true" sz="8500" spc="-170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S</a:t>
            </a:r>
            <a:r>
              <a:rPr lang="en-US" b="true" sz="8500" spc="-170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ubjects:</a:t>
            </a:r>
          </a:p>
          <a:p>
            <a:pPr algn="l" marL="0" indent="0" lvl="0">
              <a:lnSpc>
                <a:spcPts val="8925"/>
              </a:lnSpc>
            </a:pPr>
          </a:p>
        </p:txBody>
      </p:sp>
      <p:sp>
        <p:nvSpPr>
          <p:cNvPr name="AutoShape 27" id="27"/>
          <p:cNvSpPr/>
          <p:nvPr/>
        </p:nvSpPr>
        <p:spPr>
          <a:xfrm>
            <a:off x="1028700" y="2357851"/>
            <a:ext cx="16230600" cy="0"/>
          </a:xfrm>
          <a:prstGeom prst="line">
            <a:avLst/>
          </a:prstGeom>
          <a:ln cap="flat" w="38100">
            <a:solidFill>
              <a:srgbClr val="05015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1459" y="3410678"/>
            <a:ext cx="4496774" cy="1126465"/>
            <a:chOff x="0" y="0"/>
            <a:chExt cx="5995699" cy="150195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5995699" cy="1501954"/>
              <a:chOff x="0" y="0"/>
              <a:chExt cx="4544783" cy="113849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-4262"/>
                <a:ext cx="4552529" cy="1144977"/>
              </a:xfrm>
              <a:custGeom>
                <a:avLst/>
                <a:gdLst/>
                <a:ahLst/>
                <a:cxnLst/>
                <a:rect r="r" b="b" t="t" l="l"/>
                <a:pathLst>
                  <a:path h="1144977" w="4552529">
                    <a:moveTo>
                      <a:pt x="3613629" y="1133790"/>
                    </a:moveTo>
                    <a:cubicBezTo>
                      <a:pt x="3613629" y="1133790"/>
                      <a:pt x="3193877" y="1144977"/>
                      <a:pt x="2731292" y="1142356"/>
                    </a:cubicBezTo>
                    <a:cubicBezTo>
                      <a:pt x="1883630" y="1140193"/>
                      <a:pt x="1057073" y="1132369"/>
                      <a:pt x="1057073" y="1132369"/>
                    </a:cubicBezTo>
                    <a:cubicBezTo>
                      <a:pt x="812931" y="1123535"/>
                      <a:pt x="565145" y="1106554"/>
                      <a:pt x="398404" y="1048376"/>
                    </a:cubicBezTo>
                    <a:cubicBezTo>
                      <a:pt x="120505" y="951414"/>
                      <a:pt x="0" y="773886"/>
                      <a:pt x="0" y="577265"/>
                    </a:cubicBezTo>
                    <a:cubicBezTo>
                      <a:pt x="8536" y="440430"/>
                      <a:pt x="34263" y="311302"/>
                      <a:pt x="140291" y="225758"/>
                    </a:cubicBezTo>
                    <a:cubicBezTo>
                      <a:pt x="342602" y="62530"/>
                      <a:pt x="736658" y="7673"/>
                      <a:pt x="1155311" y="7673"/>
                    </a:cubicBezTo>
                    <a:cubicBezTo>
                      <a:pt x="1155311" y="7673"/>
                      <a:pt x="1551711" y="15681"/>
                      <a:pt x="2450343" y="7673"/>
                    </a:cubicBezTo>
                    <a:cubicBezTo>
                      <a:pt x="2974950" y="0"/>
                      <a:pt x="3438877" y="7673"/>
                      <a:pt x="3438877" y="7673"/>
                    </a:cubicBezTo>
                    <a:cubicBezTo>
                      <a:pt x="3807185" y="15152"/>
                      <a:pt x="4170497" y="84484"/>
                      <a:pt x="4368238" y="207066"/>
                    </a:cubicBezTo>
                    <a:cubicBezTo>
                      <a:pt x="4519255" y="300683"/>
                      <a:pt x="4552529" y="425358"/>
                      <a:pt x="4543389" y="577265"/>
                    </a:cubicBezTo>
                    <a:cubicBezTo>
                      <a:pt x="4543389" y="891851"/>
                      <a:pt x="4260392" y="1105949"/>
                      <a:pt x="3613629" y="1133790"/>
                    </a:cubicBezTo>
                    <a:close/>
                  </a:path>
                </a:pathLst>
              </a:custGeom>
              <a:solidFill>
                <a:srgbClr val="7894FF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459451" y="366156"/>
              <a:ext cx="5076796" cy="807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4620"/>
                </a:lnSpc>
                <a:spcBef>
                  <a:spcPct val="0"/>
                </a:spcBef>
              </a:pPr>
              <a:r>
                <a:rPr lang="en-US" sz="4200" spc="-84">
                  <a:solidFill>
                    <a:srgbClr val="050150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Ship Duration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95613" y="3120165"/>
            <a:ext cx="4496774" cy="1707490"/>
            <a:chOff x="0" y="0"/>
            <a:chExt cx="5995699" cy="227665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995699" cy="2276654"/>
              <a:chOff x="0" y="0"/>
              <a:chExt cx="4544783" cy="172572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-4262"/>
                <a:ext cx="4552529" cy="1732206"/>
              </a:xfrm>
              <a:custGeom>
                <a:avLst/>
                <a:gdLst/>
                <a:ahLst/>
                <a:cxnLst/>
                <a:rect r="r" b="b" t="t" l="l"/>
                <a:pathLst>
                  <a:path h="1732206" w="4552529">
                    <a:moveTo>
                      <a:pt x="3613629" y="1721018"/>
                    </a:moveTo>
                    <a:cubicBezTo>
                      <a:pt x="3613629" y="1721018"/>
                      <a:pt x="3193877" y="1732206"/>
                      <a:pt x="2731292" y="1729584"/>
                    </a:cubicBezTo>
                    <a:cubicBezTo>
                      <a:pt x="1883630" y="1727422"/>
                      <a:pt x="1057073" y="1719597"/>
                      <a:pt x="1057073" y="1719597"/>
                    </a:cubicBezTo>
                    <a:cubicBezTo>
                      <a:pt x="812931" y="1710763"/>
                      <a:pt x="565145" y="1693782"/>
                      <a:pt x="398404" y="1635604"/>
                    </a:cubicBezTo>
                    <a:cubicBezTo>
                      <a:pt x="120505" y="1538642"/>
                      <a:pt x="0" y="1361114"/>
                      <a:pt x="0" y="744836"/>
                    </a:cubicBezTo>
                    <a:cubicBezTo>
                      <a:pt x="8536" y="440430"/>
                      <a:pt x="34263" y="311302"/>
                      <a:pt x="140291" y="225758"/>
                    </a:cubicBezTo>
                    <a:cubicBezTo>
                      <a:pt x="342602" y="62530"/>
                      <a:pt x="736658" y="7673"/>
                      <a:pt x="1155311" y="7673"/>
                    </a:cubicBezTo>
                    <a:cubicBezTo>
                      <a:pt x="1155311" y="7673"/>
                      <a:pt x="1551711" y="15681"/>
                      <a:pt x="2450343" y="7673"/>
                    </a:cubicBezTo>
                    <a:cubicBezTo>
                      <a:pt x="2974950" y="0"/>
                      <a:pt x="3438877" y="7673"/>
                      <a:pt x="3438877" y="7673"/>
                    </a:cubicBezTo>
                    <a:cubicBezTo>
                      <a:pt x="3807185" y="15152"/>
                      <a:pt x="4170497" y="84484"/>
                      <a:pt x="4368238" y="207066"/>
                    </a:cubicBezTo>
                    <a:cubicBezTo>
                      <a:pt x="4519255" y="300683"/>
                      <a:pt x="4552529" y="425358"/>
                      <a:pt x="4543389" y="744836"/>
                    </a:cubicBezTo>
                    <a:cubicBezTo>
                      <a:pt x="4543389" y="1479079"/>
                      <a:pt x="4260392" y="1693177"/>
                      <a:pt x="3613629" y="1721018"/>
                    </a:cubicBezTo>
                    <a:close/>
                  </a:path>
                </a:pathLst>
              </a:custGeom>
              <a:solidFill>
                <a:srgbClr val="7894FF"/>
              </a:solid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459451" y="366156"/>
              <a:ext cx="5076796" cy="1582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sz="4200" spc="-84">
                  <a:solidFill>
                    <a:srgbClr val="050150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AVG. Shipping</a:t>
              </a:r>
            </a:p>
            <a:p>
              <a:pPr algn="ctr" marL="0" indent="0" lvl="1">
                <a:lnSpc>
                  <a:spcPts val="4620"/>
                </a:lnSpc>
                <a:spcBef>
                  <a:spcPct val="0"/>
                </a:spcBef>
              </a:pPr>
              <a:r>
                <a:rPr lang="en-US" sz="4200" spc="-84">
                  <a:solidFill>
                    <a:srgbClr val="050150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Duration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13322" y="5570605"/>
            <a:ext cx="4496774" cy="1126465"/>
            <a:chOff x="0" y="0"/>
            <a:chExt cx="5995699" cy="1501954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5995699" cy="1501954"/>
              <a:chOff x="0" y="0"/>
              <a:chExt cx="4544783" cy="113849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-4262"/>
                <a:ext cx="4552529" cy="1144977"/>
              </a:xfrm>
              <a:custGeom>
                <a:avLst/>
                <a:gdLst/>
                <a:ahLst/>
                <a:cxnLst/>
                <a:rect r="r" b="b" t="t" l="l"/>
                <a:pathLst>
                  <a:path h="1144977" w="4552529">
                    <a:moveTo>
                      <a:pt x="3613629" y="1133790"/>
                    </a:moveTo>
                    <a:cubicBezTo>
                      <a:pt x="3613629" y="1133790"/>
                      <a:pt x="3193877" y="1144977"/>
                      <a:pt x="2731292" y="1142356"/>
                    </a:cubicBezTo>
                    <a:cubicBezTo>
                      <a:pt x="1883630" y="1140193"/>
                      <a:pt x="1057073" y="1132369"/>
                      <a:pt x="1057073" y="1132369"/>
                    </a:cubicBezTo>
                    <a:cubicBezTo>
                      <a:pt x="812931" y="1123535"/>
                      <a:pt x="565145" y="1106554"/>
                      <a:pt x="398404" y="1048376"/>
                    </a:cubicBezTo>
                    <a:cubicBezTo>
                      <a:pt x="120505" y="951414"/>
                      <a:pt x="0" y="773886"/>
                      <a:pt x="0" y="577265"/>
                    </a:cubicBezTo>
                    <a:cubicBezTo>
                      <a:pt x="8536" y="440430"/>
                      <a:pt x="34263" y="311302"/>
                      <a:pt x="140291" y="225758"/>
                    </a:cubicBezTo>
                    <a:cubicBezTo>
                      <a:pt x="342602" y="62530"/>
                      <a:pt x="736658" y="7673"/>
                      <a:pt x="1155311" y="7673"/>
                    </a:cubicBezTo>
                    <a:cubicBezTo>
                      <a:pt x="1155311" y="7673"/>
                      <a:pt x="1551711" y="15681"/>
                      <a:pt x="2450343" y="7673"/>
                    </a:cubicBezTo>
                    <a:cubicBezTo>
                      <a:pt x="2974950" y="0"/>
                      <a:pt x="3438877" y="7673"/>
                      <a:pt x="3438877" y="7673"/>
                    </a:cubicBezTo>
                    <a:cubicBezTo>
                      <a:pt x="3807185" y="15152"/>
                      <a:pt x="4170497" y="84484"/>
                      <a:pt x="4368238" y="207066"/>
                    </a:cubicBezTo>
                    <a:cubicBezTo>
                      <a:pt x="4519255" y="300683"/>
                      <a:pt x="4552529" y="425358"/>
                      <a:pt x="4543389" y="577265"/>
                    </a:cubicBezTo>
                    <a:cubicBezTo>
                      <a:pt x="4543389" y="891851"/>
                      <a:pt x="4260392" y="1105949"/>
                      <a:pt x="3613629" y="1133790"/>
                    </a:cubicBezTo>
                    <a:close/>
                  </a:path>
                </a:pathLst>
              </a:custGeom>
              <a:solidFill>
                <a:srgbClr val="7894FF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459451" y="366156"/>
              <a:ext cx="5076796" cy="807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4620"/>
                </a:lnSpc>
                <a:spcBef>
                  <a:spcPct val="0"/>
                </a:spcBef>
              </a:pPr>
              <a:r>
                <a:rPr lang="en-US" sz="4200" spc="-84">
                  <a:solidFill>
                    <a:srgbClr val="050150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Sales Category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62526" y="3410678"/>
            <a:ext cx="4496774" cy="1126465"/>
            <a:chOff x="0" y="0"/>
            <a:chExt cx="5995699" cy="150195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995699" cy="1501954"/>
              <a:chOff x="0" y="0"/>
              <a:chExt cx="4544783" cy="113849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-4262"/>
                <a:ext cx="4552529" cy="1144977"/>
              </a:xfrm>
              <a:custGeom>
                <a:avLst/>
                <a:gdLst/>
                <a:ahLst/>
                <a:cxnLst/>
                <a:rect r="r" b="b" t="t" l="l"/>
                <a:pathLst>
                  <a:path h="1144977" w="4552529">
                    <a:moveTo>
                      <a:pt x="3613629" y="1133790"/>
                    </a:moveTo>
                    <a:cubicBezTo>
                      <a:pt x="3613629" y="1133790"/>
                      <a:pt x="3193877" y="1144977"/>
                      <a:pt x="2731292" y="1142356"/>
                    </a:cubicBezTo>
                    <a:cubicBezTo>
                      <a:pt x="1883630" y="1140193"/>
                      <a:pt x="1057073" y="1132369"/>
                      <a:pt x="1057073" y="1132369"/>
                    </a:cubicBezTo>
                    <a:cubicBezTo>
                      <a:pt x="812931" y="1123535"/>
                      <a:pt x="565145" y="1106554"/>
                      <a:pt x="398404" y="1048376"/>
                    </a:cubicBezTo>
                    <a:cubicBezTo>
                      <a:pt x="120505" y="951414"/>
                      <a:pt x="0" y="773886"/>
                      <a:pt x="0" y="577265"/>
                    </a:cubicBezTo>
                    <a:cubicBezTo>
                      <a:pt x="8536" y="440430"/>
                      <a:pt x="34263" y="311302"/>
                      <a:pt x="140291" y="225758"/>
                    </a:cubicBezTo>
                    <a:cubicBezTo>
                      <a:pt x="342602" y="62530"/>
                      <a:pt x="736658" y="7673"/>
                      <a:pt x="1155311" y="7673"/>
                    </a:cubicBezTo>
                    <a:cubicBezTo>
                      <a:pt x="1155311" y="7673"/>
                      <a:pt x="1551711" y="15681"/>
                      <a:pt x="2450343" y="7673"/>
                    </a:cubicBezTo>
                    <a:cubicBezTo>
                      <a:pt x="2974950" y="0"/>
                      <a:pt x="3438877" y="7673"/>
                      <a:pt x="3438877" y="7673"/>
                    </a:cubicBezTo>
                    <a:cubicBezTo>
                      <a:pt x="3807185" y="15152"/>
                      <a:pt x="4170497" y="84484"/>
                      <a:pt x="4368238" y="207066"/>
                    </a:cubicBezTo>
                    <a:cubicBezTo>
                      <a:pt x="4519255" y="300683"/>
                      <a:pt x="4552529" y="425358"/>
                      <a:pt x="4543389" y="577265"/>
                    </a:cubicBezTo>
                    <a:cubicBezTo>
                      <a:pt x="4543389" y="891851"/>
                      <a:pt x="4260392" y="1105949"/>
                      <a:pt x="3613629" y="1133790"/>
                    </a:cubicBezTo>
                    <a:close/>
                  </a:path>
                </a:pathLst>
              </a:custGeom>
              <a:solidFill>
                <a:srgbClr val="7894FF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459451" y="366156"/>
              <a:ext cx="5076796" cy="807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4620"/>
                </a:lnSpc>
                <a:spcBef>
                  <a:spcPct val="0"/>
                </a:spcBef>
              </a:pPr>
              <a:r>
                <a:rPr lang="en-US" sz="4200" spc="-84">
                  <a:solidFill>
                    <a:srgbClr val="050150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Shipping Status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822240" y="5317133"/>
            <a:ext cx="4496774" cy="1707490"/>
            <a:chOff x="0" y="0"/>
            <a:chExt cx="5995699" cy="2276654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5995699" cy="2276654"/>
              <a:chOff x="0" y="0"/>
              <a:chExt cx="4544783" cy="172572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-4262"/>
                <a:ext cx="4552529" cy="1732206"/>
              </a:xfrm>
              <a:custGeom>
                <a:avLst/>
                <a:gdLst/>
                <a:ahLst/>
                <a:cxnLst/>
                <a:rect r="r" b="b" t="t" l="l"/>
                <a:pathLst>
                  <a:path h="1732206" w="4552529">
                    <a:moveTo>
                      <a:pt x="3613629" y="1721018"/>
                    </a:moveTo>
                    <a:cubicBezTo>
                      <a:pt x="3613629" y="1721018"/>
                      <a:pt x="3193877" y="1732206"/>
                      <a:pt x="2731292" y="1729584"/>
                    </a:cubicBezTo>
                    <a:cubicBezTo>
                      <a:pt x="1883630" y="1727422"/>
                      <a:pt x="1057073" y="1719597"/>
                      <a:pt x="1057073" y="1719597"/>
                    </a:cubicBezTo>
                    <a:cubicBezTo>
                      <a:pt x="812931" y="1710763"/>
                      <a:pt x="565145" y="1693782"/>
                      <a:pt x="398404" y="1635604"/>
                    </a:cubicBezTo>
                    <a:cubicBezTo>
                      <a:pt x="120505" y="1538642"/>
                      <a:pt x="0" y="1361114"/>
                      <a:pt x="0" y="744836"/>
                    </a:cubicBezTo>
                    <a:cubicBezTo>
                      <a:pt x="8536" y="440430"/>
                      <a:pt x="34263" y="311302"/>
                      <a:pt x="140291" y="225758"/>
                    </a:cubicBezTo>
                    <a:cubicBezTo>
                      <a:pt x="342602" y="62530"/>
                      <a:pt x="736658" y="7673"/>
                      <a:pt x="1155311" y="7673"/>
                    </a:cubicBezTo>
                    <a:cubicBezTo>
                      <a:pt x="1155311" y="7673"/>
                      <a:pt x="1551711" y="15681"/>
                      <a:pt x="2450343" y="7673"/>
                    </a:cubicBezTo>
                    <a:cubicBezTo>
                      <a:pt x="2974950" y="0"/>
                      <a:pt x="3438877" y="7673"/>
                      <a:pt x="3438877" y="7673"/>
                    </a:cubicBezTo>
                    <a:cubicBezTo>
                      <a:pt x="3807185" y="15152"/>
                      <a:pt x="4170497" y="84484"/>
                      <a:pt x="4368238" y="207066"/>
                    </a:cubicBezTo>
                    <a:cubicBezTo>
                      <a:pt x="4519255" y="300683"/>
                      <a:pt x="4552529" y="425358"/>
                      <a:pt x="4543389" y="744836"/>
                    </a:cubicBezTo>
                    <a:cubicBezTo>
                      <a:pt x="4543389" y="1479079"/>
                      <a:pt x="4260392" y="1693177"/>
                      <a:pt x="3613629" y="1721018"/>
                    </a:cubicBezTo>
                    <a:close/>
                  </a:path>
                </a:pathLst>
              </a:custGeom>
              <a:solidFill>
                <a:srgbClr val="7894FF"/>
              </a:solid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459451" y="366156"/>
              <a:ext cx="5076796" cy="1582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4620"/>
                </a:lnSpc>
                <a:spcBef>
                  <a:spcPct val="0"/>
                </a:spcBef>
              </a:pPr>
              <a:r>
                <a:rPr lang="en-US" sz="4200" spc="-84">
                  <a:solidFill>
                    <a:srgbClr val="050150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Customer Status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5738718" y="334451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1026659"/>
            <a:ext cx="13868616" cy="2305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25"/>
              </a:lnSpc>
            </a:pPr>
            <a:r>
              <a:rPr lang="en-US" b="true" sz="8500" spc="-170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Adding Col</a:t>
            </a:r>
            <a:r>
              <a:rPr lang="en-US" b="true" sz="8500" spc="-170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umns:</a:t>
            </a:r>
          </a:p>
          <a:p>
            <a:pPr algn="l" marL="0" indent="0" lvl="0">
              <a:lnSpc>
                <a:spcPts val="8925"/>
              </a:lnSpc>
            </a:pPr>
          </a:p>
        </p:txBody>
      </p:sp>
      <p:sp>
        <p:nvSpPr>
          <p:cNvPr name="AutoShape 24" id="24"/>
          <p:cNvSpPr/>
          <p:nvPr/>
        </p:nvSpPr>
        <p:spPr>
          <a:xfrm>
            <a:off x="1028700" y="2357851"/>
            <a:ext cx="16746401" cy="0"/>
          </a:xfrm>
          <a:prstGeom prst="line">
            <a:avLst/>
          </a:prstGeom>
          <a:ln cap="flat" w="38100">
            <a:solidFill>
              <a:srgbClr val="05015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98572" y="196282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97471" y="2523093"/>
            <a:ext cx="5794632" cy="6735207"/>
          </a:xfrm>
          <a:custGeom>
            <a:avLst/>
            <a:gdLst/>
            <a:ahLst/>
            <a:cxnLst/>
            <a:rect r="r" b="b" t="t" l="l"/>
            <a:pathLst>
              <a:path h="6735207" w="5794632">
                <a:moveTo>
                  <a:pt x="0" y="0"/>
                </a:moveTo>
                <a:lnTo>
                  <a:pt x="5794632" y="0"/>
                </a:lnTo>
                <a:lnTo>
                  <a:pt x="5794632" y="6735207"/>
                </a:lnTo>
                <a:lnTo>
                  <a:pt x="0" y="6735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369" t="0" r="-6787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79863" y="4028885"/>
            <a:ext cx="6274393" cy="4056868"/>
          </a:xfrm>
          <a:custGeom>
            <a:avLst/>
            <a:gdLst/>
            <a:ahLst/>
            <a:cxnLst/>
            <a:rect r="r" b="b" t="t" l="l"/>
            <a:pathLst>
              <a:path h="4056868" w="6274393">
                <a:moveTo>
                  <a:pt x="0" y="0"/>
                </a:moveTo>
                <a:lnTo>
                  <a:pt x="6274393" y="0"/>
                </a:lnTo>
                <a:lnTo>
                  <a:pt x="6274393" y="4056868"/>
                </a:lnTo>
                <a:lnTo>
                  <a:pt x="0" y="4056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58541" y="3031817"/>
            <a:ext cx="5212991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9"/>
              </a:lnSpc>
            </a:pPr>
            <a:r>
              <a:rPr lang="en-US" sz="2899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Creating ship Duration column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1472" y="458527"/>
            <a:ext cx="7355128" cy="14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  <a:spcBef>
                <a:spcPct val="0"/>
              </a:spcBef>
            </a:pPr>
            <a:r>
              <a:rPr lang="en-US" b="true" sz="8499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Ship Duration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1261842" y="2139803"/>
            <a:ext cx="8326507" cy="0"/>
          </a:xfrm>
          <a:prstGeom prst="line">
            <a:avLst/>
          </a:prstGeom>
          <a:ln cap="flat" w="38100">
            <a:solidFill>
              <a:srgbClr val="05015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41447" y="101032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13538" y="2848058"/>
            <a:ext cx="5479453" cy="6410242"/>
          </a:xfrm>
          <a:custGeom>
            <a:avLst/>
            <a:gdLst/>
            <a:ahLst/>
            <a:cxnLst/>
            <a:rect r="r" b="b" t="t" l="l"/>
            <a:pathLst>
              <a:path h="6410242" w="5479453">
                <a:moveTo>
                  <a:pt x="0" y="0"/>
                </a:moveTo>
                <a:lnTo>
                  <a:pt x="5479453" y="0"/>
                </a:lnTo>
                <a:lnTo>
                  <a:pt x="5479453" y="6410242"/>
                </a:lnTo>
                <a:lnTo>
                  <a:pt x="0" y="6410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451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8225" y="4112260"/>
            <a:ext cx="11301259" cy="2062480"/>
          </a:xfrm>
          <a:custGeom>
            <a:avLst/>
            <a:gdLst/>
            <a:ahLst/>
            <a:cxnLst/>
            <a:rect r="r" b="b" t="t" l="l"/>
            <a:pathLst>
              <a:path h="2062480" w="11301259">
                <a:moveTo>
                  <a:pt x="0" y="0"/>
                </a:moveTo>
                <a:lnTo>
                  <a:pt x="11301259" y="0"/>
                </a:lnTo>
                <a:lnTo>
                  <a:pt x="11301259" y="2062480"/>
                </a:lnTo>
                <a:lnTo>
                  <a:pt x="0" y="20624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242976"/>
            <a:ext cx="7539970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9"/>
              </a:lnSpc>
            </a:pPr>
            <a:r>
              <a:rPr lang="en-US" sz="2899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Average category ship Duration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17710" y="642881"/>
            <a:ext cx="11815447" cy="14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  <a:spcBef>
                <a:spcPct val="0"/>
              </a:spcBef>
            </a:pPr>
            <a:r>
              <a:rPr lang="en-US" b="true" sz="8499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Avg Shipping Duration </a:t>
            </a:r>
          </a:p>
        </p:txBody>
      </p:sp>
      <p:sp>
        <p:nvSpPr>
          <p:cNvPr name="AutoShape 7" id="7"/>
          <p:cNvSpPr/>
          <p:nvPr/>
        </p:nvSpPr>
        <p:spPr>
          <a:xfrm>
            <a:off x="923777" y="2281556"/>
            <a:ext cx="12283729" cy="0"/>
          </a:xfrm>
          <a:prstGeom prst="line">
            <a:avLst/>
          </a:prstGeom>
          <a:ln cap="flat" w="38100">
            <a:solidFill>
              <a:srgbClr val="05015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79522" y="158182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1707" y="2844499"/>
            <a:ext cx="9664346" cy="5193182"/>
          </a:xfrm>
          <a:custGeom>
            <a:avLst/>
            <a:gdLst/>
            <a:ahLst/>
            <a:cxnLst/>
            <a:rect r="r" b="b" t="t" l="l"/>
            <a:pathLst>
              <a:path h="5193182" w="9664346">
                <a:moveTo>
                  <a:pt x="0" y="0"/>
                </a:moveTo>
                <a:lnTo>
                  <a:pt x="9664346" y="0"/>
                </a:lnTo>
                <a:lnTo>
                  <a:pt x="9664346" y="5193182"/>
                </a:lnTo>
                <a:lnTo>
                  <a:pt x="0" y="51931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07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49137" y="2844499"/>
            <a:ext cx="6146458" cy="6222129"/>
          </a:xfrm>
          <a:custGeom>
            <a:avLst/>
            <a:gdLst/>
            <a:ahLst/>
            <a:cxnLst/>
            <a:rect r="r" b="b" t="t" l="l"/>
            <a:pathLst>
              <a:path h="6222129" w="6146458">
                <a:moveTo>
                  <a:pt x="0" y="0"/>
                </a:moveTo>
                <a:lnTo>
                  <a:pt x="6146458" y="0"/>
                </a:lnTo>
                <a:lnTo>
                  <a:pt x="6146458" y="6222129"/>
                </a:lnTo>
                <a:lnTo>
                  <a:pt x="0" y="62221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922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61931"/>
            <a:ext cx="8947671" cy="14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  <a:spcBef>
                <a:spcPct val="0"/>
              </a:spcBef>
            </a:pPr>
            <a:r>
              <a:rPr lang="en-US" b="true" sz="8499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Shipping Status </a:t>
            </a:r>
          </a:p>
        </p:txBody>
      </p:sp>
      <p:sp>
        <p:nvSpPr>
          <p:cNvPr name="AutoShape 6" id="6"/>
          <p:cNvSpPr/>
          <p:nvPr/>
        </p:nvSpPr>
        <p:spPr>
          <a:xfrm>
            <a:off x="812848" y="2306988"/>
            <a:ext cx="9587960" cy="0"/>
          </a:xfrm>
          <a:prstGeom prst="line">
            <a:avLst/>
          </a:prstGeom>
          <a:ln cap="flat" w="38100">
            <a:solidFill>
              <a:srgbClr val="05015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89047" y="224857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5466" y="4382374"/>
            <a:ext cx="9037068" cy="14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  <a:spcBef>
                <a:spcPct val="0"/>
              </a:spcBef>
            </a:pPr>
            <a:r>
              <a:rPr lang="en-US" sz="8499">
                <a:solidFill>
                  <a:srgbClr val="004AAD"/>
                </a:solidFill>
                <a:latin typeface="Muli Regular"/>
                <a:ea typeface="Muli Regular"/>
                <a:cs typeface="Muli Regular"/>
                <a:sym typeface="Muli Regular"/>
              </a:rPr>
              <a:t>Customer Status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25466" y="6111647"/>
            <a:ext cx="9037068" cy="14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  <a:spcBef>
                <a:spcPct val="0"/>
              </a:spcBef>
            </a:pPr>
            <a:r>
              <a:rPr lang="en-US" sz="8499">
                <a:solidFill>
                  <a:srgbClr val="004AAD"/>
                </a:solidFill>
                <a:latin typeface="Muli Regular"/>
                <a:ea typeface="Muli Regular"/>
                <a:cs typeface="Muli Regular"/>
                <a:sym typeface="Muli Regular"/>
              </a:rPr>
              <a:t>Sales </a:t>
            </a:r>
            <a:r>
              <a:rPr lang="en-US" sz="8499">
                <a:solidFill>
                  <a:srgbClr val="004AAD"/>
                </a:solidFill>
                <a:latin typeface="Muli Regular"/>
                <a:ea typeface="Muli Regular"/>
                <a:cs typeface="Muli Regular"/>
                <a:sym typeface="Muli Regular"/>
              </a:rPr>
              <a:t>Category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4025" y="2034726"/>
            <a:ext cx="13179950" cy="14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  <a:spcBef>
                <a:spcPct val="0"/>
              </a:spcBef>
            </a:pPr>
            <a:r>
              <a:rPr lang="en-US" b="true" sz="8499">
                <a:solidFill>
                  <a:srgbClr val="000000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Remaining for next time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A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229" y="483016"/>
            <a:ext cx="17501543" cy="9320968"/>
            <a:chOff x="0" y="0"/>
            <a:chExt cx="4609460" cy="2454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9460" cy="2454905"/>
            </a:xfrm>
            <a:custGeom>
              <a:avLst/>
              <a:gdLst/>
              <a:ahLst/>
              <a:cxnLst/>
              <a:rect r="r" b="b" t="t" l="l"/>
              <a:pathLst>
                <a:path h="2454905" w="4609460">
                  <a:moveTo>
                    <a:pt x="22560" y="0"/>
                  </a:moveTo>
                  <a:lnTo>
                    <a:pt x="4586899" y="0"/>
                  </a:lnTo>
                  <a:cubicBezTo>
                    <a:pt x="4599359" y="0"/>
                    <a:pt x="4609460" y="10101"/>
                    <a:pt x="4609460" y="22560"/>
                  </a:cubicBezTo>
                  <a:lnTo>
                    <a:pt x="4609460" y="2432345"/>
                  </a:lnTo>
                  <a:cubicBezTo>
                    <a:pt x="4609460" y="2444805"/>
                    <a:pt x="4599359" y="2454905"/>
                    <a:pt x="4586899" y="2454905"/>
                  </a:cubicBezTo>
                  <a:lnTo>
                    <a:pt x="22560" y="2454905"/>
                  </a:lnTo>
                  <a:cubicBezTo>
                    <a:pt x="16577" y="2454905"/>
                    <a:pt x="10839" y="2452528"/>
                    <a:pt x="6608" y="2448297"/>
                  </a:cubicBezTo>
                  <a:cubicBezTo>
                    <a:pt x="2377" y="2444067"/>
                    <a:pt x="0" y="2438328"/>
                    <a:pt x="0" y="2432345"/>
                  </a:cubicBezTo>
                  <a:lnTo>
                    <a:pt x="0" y="22560"/>
                  </a:lnTo>
                  <a:cubicBezTo>
                    <a:pt x="0" y="16577"/>
                    <a:pt x="2377" y="10839"/>
                    <a:pt x="6608" y="6608"/>
                  </a:cubicBezTo>
                  <a:cubicBezTo>
                    <a:pt x="10839" y="2377"/>
                    <a:pt x="16577" y="0"/>
                    <a:pt x="22560" y="0"/>
                  </a:cubicBezTo>
                  <a:close/>
                </a:path>
              </a:pathLst>
            </a:custGeom>
            <a:solidFill>
              <a:srgbClr val="FFFA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9460" cy="2502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64786" y="4069613"/>
            <a:ext cx="12958428" cy="265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95"/>
              </a:lnSpc>
            </a:pPr>
            <a:r>
              <a:rPr lang="en-US" sz="20755">
                <a:solidFill>
                  <a:srgbClr val="FF7F1C"/>
                </a:solidFill>
                <a:latin typeface="Bobby Jones"/>
                <a:ea typeface="Bobby Jones"/>
                <a:cs typeface="Bobby Jones"/>
                <a:sym typeface="Bobby Jones"/>
              </a:rPr>
              <a:t>THANK YOU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A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DAGyWql3ouU</dc:identifier>
  <dcterms:modified xsi:type="dcterms:W3CDTF">2011-08-01T06:04:30Z</dcterms:modified>
  <cp:revision>1</cp:revision>
  <dc:title>نسخة من DEMI Final Presentation</dc:title>
</cp:coreProperties>
</file>