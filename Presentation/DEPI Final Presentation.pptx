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8288000" cy="10287000"/>
  <p:notesSz cx="6858000" cy="9144000"/>
  <p:embeddedFontLst>
    <p:embeddedFont>
      <p:font typeface="Inter Bold" charset="1" panose="020B0802030000000004"/>
      <p:regular r:id="rId29"/>
    </p:embeddedFont>
    <p:embeddedFont>
      <p:font typeface="Muli Regular Bold" charset="1" panose="00000700000000000000"/>
      <p:regular r:id="rId30"/>
    </p:embeddedFont>
    <p:embeddedFont>
      <p:font typeface="Stinger Fit Bold" charset="1" panose="00000800000000000000"/>
      <p:regular r:id="rId31"/>
    </p:embeddedFont>
    <p:embeddedFont>
      <p:font typeface="Work Sans Bold" charset="1" panose="00000000000000000000"/>
      <p:regular r:id="rId32"/>
    </p:embeddedFont>
    <p:embeddedFont>
      <p:font typeface="Muli Regular" charset="1" panose="00000500000000000000"/>
      <p:regular r:id="rId33"/>
    </p:embeddedFont>
    <p:embeddedFont>
      <p:font typeface="Glacial Indifference Bold" charset="1" panose="00000800000000000000"/>
      <p:regular r:id="rId34"/>
    </p:embeddedFont>
    <p:embeddedFont>
      <p:font typeface="Aileron" charset="1" panose="00000500000000000000"/>
      <p:regular r:id="rId35"/>
    </p:embeddedFont>
    <p:embeddedFont>
      <p:font typeface="Open Sauce Light" charset="1" panose="00000400000000000000"/>
      <p:regular r:id="rId36"/>
    </p:embeddedFont>
    <p:embeddedFont>
      <p:font typeface="Agrandir" charset="1" panose="00000500000000000000"/>
      <p:regular r:id="rId37"/>
    </p:embeddedFont>
    <p:embeddedFont>
      <p:font typeface="TT Fors Display" charset="1" panose="020B0003080001020000"/>
      <p:regular r:id="rId38"/>
    </p:embeddedFont>
    <p:embeddedFont>
      <p:font typeface="Agrandir Bold" charset="1" panose="00000800000000000000"/>
      <p:regular r:id="rId39"/>
    </p:embeddedFont>
    <p:embeddedFont>
      <p:font typeface="TT Interphases Bold" charset="1" panose="02000803060000020004"/>
      <p:regular r:id="rId40"/>
    </p:embeddedFont>
    <p:embeddedFont>
      <p:font typeface="Public Sans" charset="1" panose="00000000000000000000"/>
      <p:regular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2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7.png" Type="http://schemas.openxmlformats.org/officeDocument/2006/relationships/image"/><Relationship Id="rId11" Target="../media/image38.svg" Type="http://schemas.openxmlformats.org/officeDocument/2006/relationships/image"/><Relationship Id="rId12" Target="../media/image39.png" Type="http://schemas.openxmlformats.org/officeDocument/2006/relationships/image"/><Relationship Id="rId13" Target="../media/image40.svg" Type="http://schemas.openxmlformats.org/officeDocument/2006/relationships/image"/><Relationship Id="rId14" Target="../media/image41.png" Type="http://schemas.openxmlformats.org/officeDocument/2006/relationships/image"/><Relationship Id="rId15" Target="../media/image42.svg" Type="http://schemas.openxmlformats.org/officeDocument/2006/relationships/image"/><Relationship Id="rId16" Target="../media/image43.png" Type="http://schemas.openxmlformats.org/officeDocument/2006/relationships/image"/><Relationship Id="rId17" Target="../media/image44.svg" Type="http://schemas.openxmlformats.org/officeDocument/2006/relationships/image"/><Relationship Id="rId18" Target="../media/image45.png" Type="http://schemas.openxmlformats.org/officeDocument/2006/relationships/image"/><Relationship Id="rId19" Target="../media/image46.svg" Type="http://schemas.openxmlformats.org/officeDocument/2006/relationships/image"/><Relationship Id="rId2" Target="../media/image29.png" Type="http://schemas.openxmlformats.org/officeDocument/2006/relationships/image"/><Relationship Id="rId20" Target="../media/image47.png" Type="http://schemas.openxmlformats.org/officeDocument/2006/relationships/image"/><Relationship Id="rId21" Target="../media/image48.svg" Type="http://schemas.openxmlformats.org/officeDocument/2006/relationships/image"/><Relationship Id="rId22" Target="../media/image49.png" Type="http://schemas.openxmlformats.org/officeDocument/2006/relationships/image"/><Relationship Id="rId23" Target="../media/image50.svg" Type="http://schemas.openxmlformats.org/officeDocument/2006/relationships/image"/><Relationship Id="rId24" Target="../media/image51.png" Type="http://schemas.openxmlformats.org/officeDocument/2006/relationships/image"/><Relationship Id="rId25" Target="../media/image52.svg" Type="http://schemas.openxmlformats.org/officeDocument/2006/relationships/image"/><Relationship Id="rId26" Target="../media/image53.png" Type="http://schemas.openxmlformats.org/officeDocument/2006/relationships/image"/><Relationship Id="rId27" Target="../media/image54.svg" Type="http://schemas.openxmlformats.org/officeDocument/2006/relationships/image"/><Relationship Id="rId28" Target="../media/image55.png" Type="http://schemas.openxmlformats.org/officeDocument/2006/relationships/image"/><Relationship Id="rId29" Target="../media/image56.svg" Type="http://schemas.openxmlformats.org/officeDocument/2006/relationships/image"/><Relationship Id="rId3" Target="../media/image30.svg" Type="http://schemas.openxmlformats.org/officeDocument/2006/relationships/image"/><Relationship Id="rId30" Target="../media/image57.png" Type="http://schemas.openxmlformats.org/officeDocument/2006/relationships/image"/><Relationship Id="rId31" Target="../media/image58.svg" Type="http://schemas.openxmlformats.org/officeDocument/2006/relationships/image"/><Relationship Id="rId32" Target="../media/image59.png" Type="http://schemas.openxmlformats.org/officeDocument/2006/relationships/image"/><Relationship Id="rId33" Target="../media/image60.svg" Type="http://schemas.openxmlformats.org/officeDocument/2006/relationships/image"/><Relationship Id="rId34" Target="../media/image61.png" Type="http://schemas.openxmlformats.org/officeDocument/2006/relationships/image"/><Relationship Id="rId35" Target="../media/image62.svg" Type="http://schemas.openxmlformats.org/officeDocument/2006/relationships/image"/><Relationship Id="rId36" Target="../media/image63.png" Type="http://schemas.openxmlformats.org/officeDocument/2006/relationships/image"/><Relationship Id="rId37" Target="../media/image64.svg" Type="http://schemas.openxmlformats.org/officeDocument/2006/relationships/image"/><Relationship Id="rId38" Target="../media/image65.png" Type="http://schemas.openxmlformats.org/officeDocument/2006/relationships/image"/><Relationship Id="rId39" Target="../media/image66.svg" Type="http://schemas.openxmlformats.org/officeDocument/2006/relationships/image"/><Relationship Id="rId4" Target="../media/image31.png" Type="http://schemas.openxmlformats.org/officeDocument/2006/relationships/image"/><Relationship Id="rId40" Target="../media/image67.png" Type="http://schemas.openxmlformats.org/officeDocument/2006/relationships/image"/><Relationship Id="rId41" Target="../media/image68.svg" Type="http://schemas.openxmlformats.org/officeDocument/2006/relationships/image"/><Relationship Id="rId5" Target="../media/image32.svg" Type="http://schemas.openxmlformats.org/officeDocument/2006/relationships/image"/><Relationship Id="rId6" Target="../media/image33.png" Type="http://schemas.openxmlformats.org/officeDocument/2006/relationships/image"/><Relationship Id="rId7" Target="../media/image34.svg" Type="http://schemas.openxmlformats.org/officeDocument/2006/relationships/image"/><Relationship Id="rId8" Target="../media/image35.png" Type="http://schemas.openxmlformats.org/officeDocument/2006/relationships/image"/><Relationship Id="rId9" Target="../media/image36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6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70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71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72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73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74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75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6.png" Type="http://schemas.openxmlformats.org/officeDocument/2006/relationships/image"/><Relationship Id="rId3" Target="../media/image7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3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7107" y="334245"/>
            <a:ext cx="8549787" cy="9618510"/>
            <a:chOff x="0" y="0"/>
            <a:chExt cx="2251796" cy="25332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1796" cy="2533270"/>
            </a:xfrm>
            <a:custGeom>
              <a:avLst/>
              <a:gdLst/>
              <a:ahLst/>
              <a:cxnLst/>
              <a:rect r="r" b="b" t="t" l="l"/>
              <a:pathLst>
                <a:path h="2533270" w="2251796">
                  <a:moveTo>
                    <a:pt x="36220" y="0"/>
                  </a:moveTo>
                  <a:lnTo>
                    <a:pt x="2215575" y="0"/>
                  </a:lnTo>
                  <a:cubicBezTo>
                    <a:pt x="2225182" y="0"/>
                    <a:pt x="2234394" y="3816"/>
                    <a:pt x="2241187" y="10609"/>
                  </a:cubicBezTo>
                  <a:cubicBezTo>
                    <a:pt x="2247980" y="17401"/>
                    <a:pt x="2251796" y="26614"/>
                    <a:pt x="2251796" y="36220"/>
                  </a:cubicBezTo>
                  <a:lnTo>
                    <a:pt x="2251796" y="2497050"/>
                  </a:lnTo>
                  <a:cubicBezTo>
                    <a:pt x="2251796" y="2506656"/>
                    <a:pt x="2247980" y="2515869"/>
                    <a:pt x="2241187" y="2522662"/>
                  </a:cubicBezTo>
                  <a:cubicBezTo>
                    <a:pt x="2234394" y="2529454"/>
                    <a:pt x="2225182" y="2533270"/>
                    <a:pt x="2215575" y="2533270"/>
                  </a:cubicBezTo>
                  <a:lnTo>
                    <a:pt x="36220" y="2533270"/>
                  </a:lnTo>
                  <a:cubicBezTo>
                    <a:pt x="26614" y="2533270"/>
                    <a:pt x="17401" y="2529454"/>
                    <a:pt x="10609" y="2522662"/>
                  </a:cubicBezTo>
                  <a:cubicBezTo>
                    <a:pt x="3816" y="2515869"/>
                    <a:pt x="0" y="2506656"/>
                    <a:pt x="0" y="2497050"/>
                  </a:cubicBezTo>
                  <a:lnTo>
                    <a:pt x="0" y="36220"/>
                  </a:lnTo>
                  <a:cubicBezTo>
                    <a:pt x="0" y="26614"/>
                    <a:pt x="3816" y="17401"/>
                    <a:pt x="10609" y="10609"/>
                  </a:cubicBezTo>
                  <a:cubicBezTo>
                    <a:pt x="17401" y="3816"/>
                    <a:pt x="26614" y="0"/>
                    <a:pt x="36220" y="0"/>
                  </a:cubicBezTo>
                  <a:close/>
                </a:path>
              </a:pathLst>
            </a:custGeom>
            <a:solidFill>
              <a:srgbClr val="FFFAEE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251796" cy="25808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278241">
            <a:off x="9509967" y="1336092"/>
            <a:ext cx="7878666" cy="6780264"/>
          </a:xfrm>
          <a:custGeom>
            <a:avLst/>
            <a:gdLst/>
            <a:ahLst/>
            <a:cxnLst/>
            <a:rect r="r" b="b" t="t" l="l"/>
            <a:pathLst>
              <a:path h="6780264" w="7878666">
                <a:moveTo>
                  <a:pt x="0" y="0"/>
                </a:moveTo>
                <a:lnTo>
                  <a:pt x="7878666" y="0"/>
                </a:lnTo>
                <a:lnTo>
                  <a:pt x="7878666" y="6780264"/>
                </a:lnTo>
                <a:lnTo>
                  <a:pt x="0" y="67802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275562" y="895350"/>
            <a:ext cx="4592877" cy="2064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b="true" sz="6999" spc="6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Inter Bold"/>
                <a:ea typeface="Inter Bold"/>
                <a:cs typeface="Inter Bold"/>
                <a:sym typeface="Inter Bold"/>
              </a:rPr>
              <a:t>GROUP 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97107" y="3895032"/>
            <a:ext cx="8549787" cy="2573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20"/>
              </a:lnSpc>
            </a:pPr>
            <a:r>
              <a:rPr lang="en-US" b="true" sz="9109" spc="-273">
                <a:solidFill>
                  <a:srgbClr val="FF7F1C"/>
                </a:solidFill>
                <a:latin typeface="Inter Bold"/>
                <a:ea typeface="Inter Bold"/>
                <a:cs typeface="Inter Bold"/>
                <a:sym typeface="Inter Bold"/>
              </a:rPr>
              <a:t>Super Store Sales Project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97107" y="7692227"/>
            <a:ext cx="8549787" cy="821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b="true" sz="47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Muli Regular Bold"/>
                <a:ea typeface="Muli Regular Bold"/>
                <a:cs typeface="Muli Regular Bold"/>
                <a:sym typeface="Muli Regular Bold"/>
              </a:rPr>
              <a:t>DEPI - POWER BI track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7107" y="8800147"/>
            <a:ext cx="8549787" cy="821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b="true" sz="47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Muli Regular Bold"/>
                <a:ea typeface="Muli Regular Bold"/>
                <a:cs typeface="Muli Regular Bold"/>
                <a:sym typeface="Muli Regular Bold"/>
              </a:rPr>
              <a:t>Egypt - 2025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963E15">
                <a:alpha val="100000"/>
              </a:srgbClr>
            </a:gs>
            <a:gs pos="100000">
              <a:srgbClr val="F4773E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8420491"/>
            <a:ext cx="18288000" cy="1866509"/>
            <a:chOff x="0" y="0"/>
            <a:chExt cx="4816593" cy="4915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91591"/>
            </a:xfrm>
            <a:custGeom>
              <a:avLst/>
              <a:gdLst/>
              <a:ahLst/>
              <a:cxnLst/>
              <a:rect r="r" b="b" t="t" l="l"/>
              <a:pathLst>
                <a:path h="49159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91591"/>
                  </a:lnTo>
                  <a:lnTo>
                    <a:pt x="0" y="491591"/>
                  </a:lnTo>
                  <a:close/>
                </a:path>
              </a:pathLst>
            </a:custGeom>
            <a:solidFill>
              <a:srgbClr val="FCF3D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5487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58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620957" y="1112264"/>
            <a:ext cx="6638343" cy="6650434"/>
          </a:xfrm>
          <a:custGeom>
            <a:avLst/>
            <a:gdLst/>
            <a:ahLst/>
            <a:cxnLst/>
            <a:rect r="r" b="b" t="t" l="l"/>
            <a:pathLst>
              <a:path h="6650434" w="6638343">
                <a:moveTo>
                  <a:pt x="0" y="0"/>
                </a:moveTo>
                <a:lnTo>
                  <a:pt x="6638343" y="0"/>
                </a:lnTo>
                <a:lnTo>
                  <a:pt x="6638343" y="6650434"/>
                </a:lnTo>
                <a:lnTo>
                  <a:pt x="0" y="66504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84402" y="8078436"/>
            <a:ext cx="15519195" cy="2208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18"/>
              </a:lnSpc>
              <a:spcBef>
                <a:spcPct val="0"/>
              </a:spcBef>
            </a:pPr>
            <a:r>
              <a:rPr lang="en-US" b="true" sz="12798">
                <a:solidFill>
                  <a:srgbClr val="E65E07"/>
                </a:solidFill>
                <a:latin typeface="Stinger Fit Bold"/>
                <a:ea typeface="Stinger Fit Bold"/>
                <a:cs typeface="Stinger Fit Bold"/>
                <a:sym typeface="Stinger Fit Bold"/>
              </a:rPr>
              <a:t> TEAM MEMBERS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89900" y="220902"/>
            <a:ext cx="8454100" cy="5859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67"/>
              </a:lnSpc>
            </a:pPr>
            <a:r>
              <a:rPr lang="en-US" sz="5548" b="true">
                <a:solidFill>
                  <a:srgbClr val="EDE5DE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Reham Nagaty (Leader)</a:t>
            </a:r>
          </a:p>
          <a:p>
            <a:pPr algn="l">
              <a:lnSpc>
                <a:spcPts val="7767"/>
              </a:lnSpc>
            </a:pPr>
            <a:r>
              <a:rPr lang="en-US" sz="5548" b="true">
                <a:solidFill>
                  <a:srgbClr val="EDE5DE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Eman Ramadan</a:t>
            </a:r>
          </a:p>
          <a:p>
            <a:pPr algn="l">
              <a:lnSpc>
                <a:spcPts val="7767"/>
              </a:lnSpc>
            </a:pPr>
            <a:r>
              <a:rPr lang="en-US" sz="5548" b="true">
                <a:solidFill>
                  <a:srgbClr val="EDE5DE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Seif Mohamed</a:t>
            </a:r>
          </a:p>
          <a:p>
            <a:pPr algn="l">
              <a:lnSpc>
                <a:spcPts val="7767"/>
              </a:lnSpc>
            </a:pPr>
            <a:r>
              <a:rPr lang="en-US" sz="5548" b="true">
                <a:solidFill>
                  <a:srgbClr val="EDE5DE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Mahmoud Ahmed</a:t>
            </a:r>
          </a:p>
          <a:p>
            <a:pPr algn="l">
              <a:lnSpc>
                <a:spcPts val="7767"/>
              </a:lnSpc>
            </a:pPr>
            <a:r>
              <a:rPr lang="en-US" sz="5548" b="true">
                <a:solidFill>
                  <a:srgbClr val="EDE5DE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Tarek Yehia</a:t>
            </a:r>
          </a:p>
          <a:p>
            <a:pPr algn="l">
              <a:lnSpc>
                <a:spcPts val="7767"/>
              </a:lnSpc>
              <a:spcBef>
                <a:spcPct val="0"/>
              </a:spcBef>
            </a:pPr>
            <a:r>
              <a:rPr lang="en-US" b="true" sz="5548">
                <a:solidFill>
                  <a:srgbClr val="EDE5DE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Khaled Ahmed </a:t>
            </a:r>
          </a:p>
        </p:txBody>
      </p:sp>
      <p:sp>
        <p:nvSpPr>
          <p:cNvPr name="AutoShape 8" id="8"/>
          <p:cNvSpPr/>
          <p:nvPr/>
        </p:nvSpPr>
        <p:spPr>
          <a:xfrm>
            <a:off x="9144000" y="0"/>
            <a:ext cx="0" cy="8629134"/>
          </a:xfrm>
          <a:prstGeom prst="line">
            <a:avLst/>
          </a:prstGeom>
          <a:ln cap="flat" w="38100">
            <a:solidFill>
              <a:srgbClr val="EDE5D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689900" y="6356951"/>
            <a:ext cx="12799668" cy="1588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39"/>
              </a:lnSpc>
            </a:pPr>
            <a:r>
              <a:rPr lang="en-US" sz="4599" b="true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Muli Regular Bold"/>
                <a:ea typeface="Muli Regular Bold"/>
                <a:cs typeface="Muli Regular Bold"/>
                <a:sym typeface="Muli Regular Bold"/>
              </a:rPr>
              <a:t>Supervised by </a:t>
            </a:r>
          </a:p>
          <a:p>
            <a:pPr algn="l">
              <a:lnSpc>
                <a:spcPts val="6439"/>
              </a:lnSpc>
            </a:pPr>
            <a:r>
              <a:rPr lang="en-US" sz="4599" b="true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Muli Regular Bold"/>
                <a:ea typeface="Muli Regular Bold"/>
                <a:cs typeface="Muli Regular Bold"/>
                <a:sym typeface="Muli Regular Bold"/>
              </a:rPr>
              <a:t>Eng. Kareem Bakli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3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0" y="1578696"/>
            <a:ext cx="4437195" cy="123200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838200" y="2079684"/>
            <a:ext cx="6873586" cy="7200900"/>
          </a:xfrm>
          <a:custGeom>
            <a:avLst/>
            <a:gdLst/>
            <a:ahLst/>
            <a:cxnLst/>
            <a:rect r="r" b="b" t="t" l="l"/>
            <a:pathLst>
              <a:path h="7200900" w="6873586">
                <a:moveTo>
                  <a:pt x="0" y="0"/>
                </a:moveTo>
                <a:lnTo>
                  <a:pt x="6873586" y="0"/>
                </a:lnTo>
                <a:lnTo>
                  <a:pt x="6873586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1853697">
            <a:off x="7091391" y="582044"/>
            <a:ext cx="1731009" cy="1731009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ABC5FE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155575"/>
              <a:ext cx="711200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99522" y="127093"/>
            <a:ext cx="8114936" cy="119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b="true" sz="6999" spc="699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5CE1E6">
                        <a:alpha val="100000"/>
                      </a:srgbClr>
                    </a:gs>
                  </a:gsLst>
                  <a:lin ang="0"/>
                </a:gradFill>
                <a:latin typeface="Inter Bold"/>
                <a:ea typeface="Inter Bold"/>
                <a:cs typeface="Inter Bold"/>
                <a:sym typeface="Inter Bold"/>
              </a:rPr>
              <a:t>AGENDA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172107" y="9242107"/>
            <a:ext cx="4372943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 spc="210">
                <a:solidFill>
                  <a:srgbClr val="000000">
                    <a:alpha val="19608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7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56811" y="1984434"/>
            <a:ext cx="8430593" cy="692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42010" indent="-471005" lvl="1">
              <a:lnSpc>
                <a:spcPts val="6108"/>
              </a:lnSpc>
              <a:buFont typeface="Arial"/>
              <a:buChar char="•"/>
            </a:pPr>
            <a:r>
              <a:rPr lang="en-US" b="true" sz="4363" spc="-130">
                <a:solidFill>
                  <a:srgbClr val="004AAD"/>
                </a:solidFill>
                <a:latin typeface="Inter Bold"/>
                <a:ea typeface="Inter Bold"/>
                <a:cs typeface="Inter Bold"/>
                <a:sym typeface="Inter Bold"/>
              </a:rPr>
              <a:t>Project overview</a:t>
            </a:r>
          </a:p>
          <a:p>
            <a:pPr algn="l" marL="942010" indent="-471005" lvl="1">
              <a:lnSpc>
                <a:spcPts val="6108"/>
              </a:lnSpc>
              <a:buFont typeface="Arial"/>
              <a:buChar char="•"/>
            </a:pPr>
            <a:r>
              <a:rPr lang="en-US" b="true" sz="4363" spc="-130">
                <a:solidFill>
                  <a:srgbClr val="004AAD"/>
                </a:solidFill>
                <a:latin typeface="Inter Bold"/>
                <a:ea typeface="Inter Bold"/>
                <a:cs typeface="Inter Bold"/>
                <a:sym typeface="Inter Bold"/>
              </a:rPr>
              <a:t>Objectives &amp; Business Questions</a:t>
            </a:r>
          </a:p>
          <a:p>
            <a:pPr algn="l" marL="942010" indent="-471005" lvl="1">
              <a:lnSpc>
                <a:spcPts val="6108"/>
              </a:lnSpc>
              <a:buFont typeface="Arial"/>
              <a:buChar char="•"/>
            </a:pPr>
            <a:r>
              <a:rPr lang="en-US" b="true" sz="4363" spc="-130">
                <a:solidFill>
                  <a:srgbClr val="004AAD"/>
                </a:solidFill>
                <a:latin typeface="Inter Bold"/>
                <a:ea typeface="Inter Bold"/>
                <a:cs typeface="Inter Bold"/>
                <a:sym typeface="Inter Bold"/>
              </a:rPr>
              <a:t>Data preparation</a:t>
            </a:r>
          </a:p>
          <a:p>
            <a:pPr algn="l" marL="942010" indent="-471005" lvl="1">
              <a:lnSpc>
                <a:spcPts val="6108"/>
              </a:lnSpc>
              <a:buFont typeface="Arial"/>
              <a:buChar char="•"/>
            </a:pPr>
            <a:r>
              <a:rPr lang="en-US" b="true" sz="4363" spc="-130">
                <a:solidFill>
                  <a:srgbClr val="004AAD"/>
                </a:solidFill>
                <a:latin typeface="Inter Bold"/>
                <a:ea typeface="Inter Bold"/>
                <a:cs typeface="Inter Bold"/>
                <a:sym typeface="Inter Bold"/>
              </a:rPr>
              <a:t>KPIs &amp; DAX Measures</a:t>
            </a:r>
          </a:p>
          <a:p>
            <a:pPr algn="l" marL="942010" indent="-471005" lvl="1">
              <a:lnSpc>
                <a:spcPts val="6108"/>
              </a:lnSpc>
              <a:buFont typeface="Arial"/>
              <a:buChar char="•"/>
            </a:pPr>
            <a:r>
              <a:rPr lang="en-US" b="true" sz="4363" spc="-130">
                <a:solidFill>
                  <a:srgbClr val="004AAD"/>
                </a:solidFill>
                <a:latin typeface="Inter Bold"/>
                <a:ea typeface="Inter Bold"/>
                <a:cs typeface="Inter Bold"/>
                <a:sym typeface="Inter Bold"/>
              </a:rPr>
              <a:t>Dashboard Walkthrough</a:t>
            </a:r>
          </a:p>
          <a:p>
            <a:pPr algn="l" marL="942010" indent="-471005" lvl="1">
              <a:lnSpc>
                <a:spcPts val="6108"/>
              </a:lnSpc>
              <a:buFont typeface="Arial"/>
              <a:buChar char="•"/>
            </a:pPr>
            <a:r>
              <a:rPr lang="en-US" b="true" sz="4363" spc="-130">
                <a:solidFill>
                  <a:srgbClr val="004AAD"/>
                </a:solidFill>
                <a:latin typeface="Inter Bold"/>
                <a:ea typeface="Inter Bold"/>
                <a:cs typeface="Inter Bold"/>
                <a:sym typeface="Inter Bold"/>
              </a:rPr>
              <a:t>Key insights</a:t>
            </a:r>
          </a:p>
          <a:p>
            <a:pPr algn="l" marL="942010" indent="-471005" lvl="1">
              <a:lnSpc>
                <a:spcPts val="6108"/>
              </a:lnSpc>
              <a:buFont typeface="Arial"/>
              <a:buChar char="•"/>
            </a:pPr>
            <a:r>
              <a:rPr lang="en-US" b="true" sz="4363" spc="-130">
                <a:solidFill>
                  <a:srgbClr val="004AAD"/>
                </a:solidFill>
                <a:latin typeface="Inter Bold"/>
                <a:ea typeface="Inter Bold"/>
                <a:cs typeface="Inter Bold"/>
                <a:sym typeface="Inter Bold"/>
              </a:rPr>
              <a:t>Recommendations</a:t>
            </a:r>
          </a:p>
          <a:p>
            <a:pPr algn="l" marL="942010" indent="-471005" lvl="1">
              <a:lnSpc>
                <a:spcPts val="6108"/>
              </a:lnSpc>
              <a:buFont typeface="Arial"/>
              <a:buChar char="•"/>
            </a:pPr>
            <a:r>
              <a:rPr lang="en-US" b="true" sz="4363" spc="-130">
                <a:solidFill>
                  <a:srgbClr val="004AAD"/>
                </a:solidFill>
                <a:latin typeface="Inter Bold"/>
                <a:ea typeface="Inter Bold"/>
                <a:cs typeface="Inter Bold"/>
                <a:sym typeface="Inter Bold"/>
              </a:rPr>
              <a:t>Conclusion &amp; future work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3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3229" y="483016"/>
            <a:ext cx="17501543" cy="9320968"/>
            <a:chOff x="0" y="0"/>
            <a:chExt cx="4609460" cy="24549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9460" cy="2454905"/>
            </a:xfrm>
            <a:custGeom>
              <a:avLst/>
              <a:gdLst/>
              <a:ahLst/>
              <a:cxnLst/>
              <a:rect r="r" b="b" t="t" l="l"/>
              <a:pathLst>
                <a:path h="2454905" w="4609460">
                  <a:moveTo>
                    <a:pt x="22560" y="0"/>
                  </a:moveTo>
                  <a:lnTo>
                    <a:pt x="4586899" y="0"/>
                  </a:lnTo>
                  <a:cubicBezTo>
                    <a:pt x="4599359" y="0"/>
                    <a:pt x="4609460" y="10101"/>
                    <a:pt x="4609460" y="22560"/>
                  </a:cubicBezTo>
                  <a:lnTo>
                    <a:pt x="4609460" y="2432345"/>
                  </a:lnTo>
                  <a:cubicBezTo>
                    <a:pt x="4609460" y="2444805"/>
                    <a:pt x="4599359" y="2454905"/>
                    <a:pt x="4586899" y="2454905"/>
                  </a:cubicBezTo>
                  <a:lnTo>
                    <a:pt x="22560" y="2454905"/>
                  </a:lnTo>
                  <a:cubicBezTo>
                    <a:pt x="16577" y="2454905"/>
                    <a:pt x="10839" y="2452528"/>
                    <a:pt x="6608" y="2448297"/>
                  </a:cubicBezTo>
                  <a:cubicBezTo>
                    <a:pt x="2377" y="2444067"/>
                    <a:pt x="0" y="2438328"/>
                    <a:pt x="0" y="2432345"/>
                  </a:cubicBezTo>
                  <a:lnTo>
                    <a:pt x="0" y="22560"/>
                  </a:lnTo>
                  <a:cubicBezTo>
                    <a:pt x="0" y="16577"/>
                    <a:pt x="2377" y="10839"/>
                    <a:pt x="6608" y="6608"/>
                  </a:cubicBezTo>
                  <a:cubicBezTo>
                    <a:pt x="10839" y="2377"/>
                    <a:pt x="16577" y="0"/>
                    <a:pt x="22560" y="0"/>
                  </a:cubicBezTo>
                  <a:close/>
                </a:path>
              </a:pathLst>
            </a:custGeom>
            <a:solidFill>
              <a:srgbClr val="FAF9F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9460" cy="25025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402028"/>
            <a:ext cx="17894771" cy="9482944"/>
          </a:xfrm>
          <a:custGeom>
            <a:avLst/>
            <a:gdLst/>
            <a:ahLst/>
            <a:cxnLst/>
            <a:rect r="r" b="b" t="t" l="l"/>
            <a:pathLst>
              <a:path h="9482944" w="17894771">
                <a:moveTo>
                  <a:pt x="0" y="0"/>
                </a:moveTo>
                <a:lnTo>
                  <a:pt x="17894771" y="0"/>
                </a:lnTo>
                <a:lnTo>
                  <a:pt x="17894771" y="9482944"/>
                </a:lnTo>
                <a:lnTo>
                  <a:pt x="0" y="94829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54" r="-2197" b="-16654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1326741" y="3326943"/>
            <a:ext cx="14300951" cy="0"/>
          </a:xfrm>
          <a:prstGeom prst="line">
            <a:avLst/>
          </a:prstGeom>
          <a:ln cap="flat" w="38100">
            <a:solidFill>
              <a:srgbClr val="05015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5738718" y="334451"/>
            <a:ext cx="2156053" cy="1388498"/>
          </a:xfrm>
          <a:custGeom>
            <a:avLst/>
            <a:gdLst/>
            <a:ahLst/>
            <a:cxnLst/>
            <a:rect r="r" b="b" t="t" l="l"/>
            <a:pathLst>
              <a:path h="1388498" w="2156053">
                <a:moveTo>
                  <a:pt x="0" y="0"/>
                </a:moveTo>
                <a:lnTo>
                  <a:pt x="2156053" y="0"/>
                </a:lnTo>
                <a:lnTo>
                  <a:pt x="2156053" y="1388498"/>
                </a:lnTo>
                <a:lnTo>
                  <a:pt x="0" y="13884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26741" y="1631037"/>
            <a:ext cx="12860095" cy="1238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475"/>
              </a:lnSpc>
            </a:pPr>
            <a:r>
              <a:rPr lang="en-US" b="true" sz="9023" spc="-180">
                <a:solidFill>
                  <a:srgbClr val="004AAD"/>
                </a:solidFill>
                <a:latin typeface="Muli Regular Bold"/>
                <a:ea typeface="Muli Regular Bold"/>
                <a:cs typeface="Muli Regular Bold"/>
                <a:sym typeface="Muli Regular Bold"/>
              </a:rPr>
              <a:t>Project Overview </a:t>
            </a:r>
            <a:r>
              <a:rPr lang="en-US" b="true" sz="9023" spc="-180">
                <a:solidFill>
                  <a:srgbClr val="004AAD"/>
                </a:solidFill>
                <a:latin typeface="Muli Regular Bold"/>
                <a:ea typeface="Muli Regular Bold"/>
                <a:cs typeface="Muli Regular Bold"/>
                <a:sym typeface="Muli Regular Bold"/>
              </a:rPr>
              <a:t>...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78150" y="3988513"/>
            <a:ext cx="9406179" cy="2511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79"/>
              </a:lnSpc>
            </a:pPr>
            <a:r>
              <a:rPr lang="en-US" b="true" sz="5699">
                <a:solidFill>
                  <a:srgbClr val="FF7F1C"/>
                </a:solidFill>
                <a:latin typeface="Muli Regular Bold"/>
                <a:ea typeface="Muli Regular Bold"/>
                <a:cs typeface="Muli Regular Bold"/>
                <a:sym typeface="Muli Regular Bold"/>
              </a:rPr>
              <a:t>Da</a:t>
            </a:r>
            <a:r>
              <a:rPr lang="en-US" b="true" sz="5699">
                <a:solidFill>
                  <a:srgbClr val="FF7F1C"/>
                </a:solidFill>
                <a:latin typeface="Muli Regular Bold"/>
                <a:ea typeface="Muli Regular Bold"/>
                <a:cs typeface="Muli Regular Bold"/>
                <a:sym typeface="Muli Regular Bold"/>
              </a:rPr>
              <a:t>taset:</a:t>
            </a:r>
            <a:r>
              <a:rPr lang="en-US" sz="5699">
                <a:solidFill>
                  <a:srgbClr val="FF7F1C"/>
                </a:solidFill>
                <a:latin typeface="Muli Regular"/>
                <a:ea typeface="Muli Regular"/>
                <a:cs typeface="Muli Regular"/>
                <a:sym typeface="Muli Regular"/>
              </a:rPr>
              <a:t> </a:t>
            </a:r>
          </a:p>
          <a:p>
            <a:pPr algn="l" marL="0" indent="0" lvl="0">
              <a:lnSpc>
                <a:spcPts val="6019"/>
              </a:lnSpc>
            </a:pPr>
            <a:r>
              <a:rPr lang="en-US" sz="4299">
                <a:solidFill>
                  <a:srgbClr val="050150"/>
                </a:solidFill>
                <a:latin typeface="Muli Regular"/>
                <a:ea typeface="Muli Regular"/>
                <a:cs typeface="Muli Regular"/>
                <a:sym typeface="Muli Regular"/>
              </a:rPr>
              <a:t>Retail dataset of sales for global superstore for 4 years.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3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550627"/>
            <a:ext cx="16230600" cy="6120289"/>
          </a:xfrm>
          <a:custGeom>
            <a:avLst/>
            <a:gdLst/>
            <a:ahLst/>
            <a:cxnLst/>
            <a:rect r="r" b="b" t="t" l="l"/>
            <a:pathLst>
              <a:path h="6120289" w="16230600">
                <a:moveTo>
                  <a:pt x="0" y="0"/>
                </a:moveTo>
                <a:lnTo>
                  <a:pt x="16230600" y="0"/>
                </a:lnTo>
                <a:lnTo>
                  <a:pt x="16230600" y="6120289"/>
                </a:lnTo>
                <a:lnTo>
                  <a:pt x="0" y="61202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20299" y="1781164"/>
            <a:ext cx="10623123" cy="1249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23"/>
              </a:lnSpc>
            </a:pPr>
            <a:r>
              <a:rPr lang="en-US" b="true" sz="11199" spc="-1119">
                <a:solidFill>
                  <a:srgbClr val="FF7F1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MOTIVATION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778816" y="391101"/>
            <a:ext cx="10509184" cy="4112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7"/>
              </a:lnSpc>
            </a:pPr>
            <a:r>
              <a:rPr lang="en-US" sz="3473" spc="-104">
                <a:solidFill>
                  <a:srgbClr val="1E1E1E"/>
                </a:solidFill>
                <a:latin typeface="Muli Regular"/>
                <a:ea typeface="Muli Regular"/>
                <a:cs typeface="Muli Regular"/>
                <a:sym typeface="Muli Regular"/>
              </a:rPr>
              <a:t>Why this project matters:</a:t>
            </a:r>
          </a:p>
          <a:p>
            <a:pPr algn="l">
              <a:lnSpc>
                <a:spcPts val="4237"/>
              </a:lnSpc>
            </a:pPr>
          </a:p>
          <a:p>
            <a:pPr algn="l" marL="749954" indent="-374977" lvl="1">
              <a:lnSpc>
                <a:spcPts val="4237"/>
              </a:lnSpc>
              <a:buFont typeface="Arial"/>
              <a:buChar char="•"/>
            </a:pPr>
            <a:r>
              <a:rPr lang="en-US" sz="3473" spc="-104">
                <a:solidFill>
                  <a:srgbClr val="1E1E1E"/>
                </a:solidFill>
                <a:latin typeface="Muli Regular"/>
                <a:ea typeface="Muli Regular"/>
                <a:cs typeface="Muli Regular"/>
                <a:sym typeface="Muli Regular"/>
              </a:rPr>
              <a:t>Practice real-world BI workflow.</a:t>
            </a:r>
          </a:p>
          <a:p>
            <a:pPr algn="l" marL="749954" indent="-374977" lvl="1">
              <a:lnSpc>
                <a:spcPts val="4237"/>
              </a:lnSpc>
              <a:buFont typeface="Arial"/>
              <a:buChar char="•"/>
            </a:pPr>
            <a:r>
              <a:rPr lang="en-US" sz="3473" spc="-104">
                <a:solidFill>
                  <a:srgbClr val="1E1E1E"/>
                </a:solidFill>
                <a:latin typeface="Muli Regular"/>
                <a:ea typeface="Muli Regular"/>
                <a:cs typeface="Muli Regular"/>
                <a:sym typeface="Muli Regular"/>
              </a:rPr>
              <a:t>Develop business-driven insights, not only visuals.</a:t>
            </a:r>
          </a:p>
          <a:p>
            <a:pPr algn="l" marL="749954" indent="-374977" lvl="1">
              <a:lnSpc>
                <a:spcPts val="4237"/>
              </a:lnSpc>
              <a:buFont typeface="Arial"/>
              <a:buChar char="•"/>
            </a:pPr>
            <a:r>
              <a:rPr lang="en-US" sz="3473" spc="-104">
                <a:solidFill>
                  <a:srgbClr val="1E1E1E"/>
                </a:solidFill>
                <a:latin typeface="Muli Regular"/>
                <a:ea typeface="Muli Regular"/>
                <a:cs typeface="Muli Regular"/>
                <a:sym typeface="Muli Regular"/>
              </a:rPr>
              <a:t>Apply DEPI learning to a complete analytical cycle.</a:t>
            </a:r>
          </a:p>
          <a:p>
            <a:pPr algn="l" marL="749954" indent="-374977" lvl="1">
              <a:lnSpc>
                <a:spcPts val="4237"/>
              </a:lnSpc>
              <a:buFont typeface="Arial"/>
              <a:buChar char="•"/>
            </a:pPr>
            <a:r>
              <a:rPr lang="en-US" sz="3473" spc="-104">
                <a:solidFill>
                  <a:srgbClr val="1E1E1E"/>
                </a:solidFill>
                <a:latin typeface="Muli Regular"/>
                <a:ea typeface="Muli Regular"/>
                <a:cs typeface="Muli Regular"/>
                <a:sym typeface="Muli Regular"/>
              </a:rPr>
              <a:t>Build a strong portfolio-ready dashboard.</a:t>
            </a:r>
          </a:p>
          <a:p>
            <a:pPr algn="l" marL="0" indent="0" lvl="0">
              <a:lnSpc>
                <a:spcPts val="7253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5763474" y="201967"/>
            <a:ext cx="2156053" cy="1388498"/>
          </a:xfrm>
          <a:custGeom>
            <a:avLst/>
            <a:gdLst/>
            <a:ahLst/>
            <a:cxnLst/>
            <a:rect r="r" b="b" t="t" l="l"/>
            <a:pathLst>
              <a:path h="1388498" w="2156053">
                <a:moveTo>
                  <a:pt x="0" y="0"/>
                </a:moveTo>
                <a:lnTo>
                  <a:pt x="2156053" y="0"/>
                </a:lnTo>
                <a:lnTo>
                  <a:pt x="2156053" y="1388498"/>
                </a:lnTo>
                <a:lnTo>
                  <a:pt x="0" y="13884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3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34058" y="612657"/>
            <a:ext cx="17501543" cy="9320968"/>
            <a:chOff x="0" y="0"/>
            <a:chExt cx="4609460" cy="24549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9460" cy="2454905"/>
            </a:xfrm>
            <a:custGeom>
              <a:avLst/>
              <a:gdLst/>
              <a:ahLst/>
              <a:cxnLst/>
              <a:rect r="r" b="b" t="t" l="l"/>
              <a:pathLst>
                <a:path h="2454905" w="4609460">
                  <a:moveTo>
                    <a:pt x="22560" y="0"/>
                  </a:moveTo>
                  <a:lnTo>
                    <a:pt x="4586899" y="0"/>
                  </a:lnTo>
                  <a:cubicBezTo>
                    <a:pt x="4599359" y="0"/>
                    <a:pt x="4609460" y="10101"/>
                    <a:pt x="4609460" y="22560"/>
                  </a:cubicBezTo>
                  <a:lnTo>
                    <a:pt x="4609460" y="2432345"/>
                  </a:lnTo>
                  <a:cubicBezTo>
                    <a:pt x="4609460" y="2444805"/>
                    <a:pt x="4599359" y="2454905"/>
                    <a:pt x="4586899" y="2454905"/>
                  </a:cubicBezTo>
                  <a:lnTo>
                    <a:pt x="22560" y="2454905"/>
                  </a:lnTo>
                  <a:cubicBezTo>
                    <a:pt x="16577" y="2454905"/>
                    <a:pt x="10839" y="2452528"/>
                    <a:pt x="6608" y="2448297"/>
                  </a:cubicBezTo>
                  <a:cubicBezTo>
                    <a:pt x="2377" y="2444067"/>
                    <a:pt x="0" y="2438328"/>
                    <a:pt x="0" y="2432345"/>
                  </a:cubicBezTo>
                  <a:lnTo>
                    <a:pt x="0" y="22560"/>
                  </a:lnTo>
                  <a:cubicBezTo>
                    <a:pt x="0" y="16577"/>
                    <a:pt x="2377" y="10839"/>
                    <a:pt x="6608" y="6608"/>
                  </a:cubicBezTo>
                  <a:cubicBezTo>
                    <a:pt x="10839" y="2377"/>
                    <a:pt x="16577" y="0"/>
                    <a:pt x="22560" y="0"/>
                  </a:cubicBezTo>
                  <a:close/>
                </a:path>
              </a:pathLst>
            </a:custGeom>
            <a:solidFill>
              <a:srgbClr val="FCF3D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9460" cy="25025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378150" y="2755976"/>
            <a:ext cx="16050547" cy="0"/>
          </a:xfrm>
          <a:prstGeom prst="line">
            <a:avLst/>
          </a:prstGeom>
          <a:ln cap="flat" w="38100">
            <a:solidFill>
              <a:srgbClr val="05015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5763474" y="334451"/>
            <a:ext cx="2156053" cy="1388498"/>
          </a:xfrm>
          <a:custGeom>
            <a:avLst/>
            <a:gdLst/>
            <a:ahLst/>
            <a:cxnLst/>
            <a:rect r="r" b="b" t="t" l="l"/>
            <a:pathLst>
              <a:path h="1388498" w="2156053">
                <a:moveTo>
                  <a:pt x="0" y="0"/>
                </a:moveTo>
                <a:lnTo>
                  <a:pt x="2156053" y="0"/>
                </a:lnTo>
                <a:lnTo>
                  <a:pt x="2156053" y="1388498"/>
                </a:lnTo>
                <a:lnTo>
                  <a:pt x="0" y="13884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341925" y="2870276"/>
            <a:ext cx="7421549" cy="7416724"/>
          </a:xfrm>
          <a:custGeom>
            <a:avLst/>
            <a:gdLst/>
            <a:ahLst/>
            <a:cxnLst/>
            <a:rect r="r" b="b" t="t" l="l"/>
            <a:pathLst>
              <a:path h="7416724" w="7421549">
                <a:moveTo>
                  <a:pt x="0" y="0"/>
                </a:moveTo>
                <a:lnTo>
                  <a:pt x="7421549" y="0"/>
                </a:lnTo>
                <a:lnTo>
                  <a:pt x="7421549" y="7416724"/>
                </a:lnTo>
                <a:lnTo>
                  <a:pt x="0" y="74167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20" r="-830" b="-5503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26741" y="1471130"/>
            <a:ext cx="8258564" cy="1171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25"/>
              </a:lnSpc>
            </a:pPr>
            <a:r>
              <a:rPr lang="en-US" b="true" sz="8500" spc="-170">
                <a:solidFill>
                  <a:srgbClr val="004AAD"/>
                </a:solidFill>
                <a:latin typeface="Muli Regular Bold"/>
                <a:ea typeface="Muli Regular Bold"/>
                <a:cs typeface="Muli Regular Bold"/>
                <a:sym typeface="Muli Regular Bold"/>
              </a:rPr>
              <a:t>Dataset </a:t>
            </a:r>
            <a:r>
              <a:rPr lang="en-US" b="true" sz="8500" spc="-170">
                <a:solidFill>
                  <a:srgbClr val="004AAD"/>
                </a:solidFill>
                <a:latin typeface="Muli Regular Bold"/>
                <a:ea typeface="Muli Regular Bold"/>
                <a:cs typeface="Muli Regular Bold"/>
                <a:sym typeface="Muli Regular Bold"/>
              </a:rPr>
              <a:t>Info...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26741" y="4154271"/>
            <a:ext cx="4129282" cy="1118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59"/>
              </a:lnSpc>
            </a:pPr>
            <a:r>
              <a:rPr lang="en-US" b="true" sz="3900">
                <a:solidFill>
                  <a:srgbClr val="FF7F1C"/>
                </a:solidFill>
                <a:latin typeface="Muli Regular Bold"/>
                <a:ea typeface="Muli Regular Bold"/>
                <a:cs typeface="Muli Regular Bold"/>
                <a:sym typeface="Muli Regular Bold"/>
              </a:rPr>
              <a:t>Da</a:t>
            </a:r>
            <a:r>
              <a:rPr lang="en-US" b="true" sz="3900">
                <a:solidFill>
                  <a:srgbClr val="FF7F1C"/>
                </a:solidFill>
                <a:latin typeface="Muli Regular Bold"/>
                <a:ea typeface="Muli Regular Bold"/>
                <a:cs typeface="Muli Regular Bold"/>
                <a:sym typeface="Muli Regular Bold"/>
              </a:rPr>
              <a:t>taset content:</a:t>
            </a:r>
            <a:r>
              <a:rPr lang="en-US" sz="3900">
                <a:solidFill>
                  <a:srgbClr val="FF7F1C"/>
                </a:solidFill>
                <a:latin typeface="Muli Regular"/>
                <a:ea typeface="Muli Regular"/>
                <a:cs typeface="Muli Regular"/>
                <a:sym typeface="Muli Regular"/>
              </a:rPr>
              <a:t> </a:t>
            </a:r>
          </a:p>
          <a:p>
            <a:pPr algn="l" marL="0" indent="0" lvl="0">
              <a:lnSpc>
                <a:spcPts val="3499"/>
              </a:lnSpc>
            </a:pPr>
            <a:r>
              <a:rPr lang="en-US" sz="2499">
                <a:solidFill>
                  <a:srgbClr val="050150"/>
                </a:solidFill>
                <a:latin typeface="Muli Regular"/>
                <a:ea typeface="Muli Regular"/>
                <a:cs typeface="Muli Regular"/>
                <a:sym typeface="Muli Regular"/>
              </a:rPr>
              <a:t>9801 row, </a:t>
            </a:r>
            <a:r>
              <a:rPr lang="en-US" sz="2499">
                <a:solidFill>
                  <a:srgbClr val="050150"/>
                </a:solidFill>
                <a:latin typeface="Muli Regular"/>
                <a:ea typeface="Muli Regular"/>
                <a:cs typeface="Muli Regular"/>
                <a:sym typeface="Muli Regular"/>
              </a:rPr>
              <a:t>18</a:t>
            </a:r>
            <a:r>
              <a:rPr lang="en-US" sz="2499">
                <a:solidFill>
                  <a:srgbClr val="050150"/>
                </a:solidFill>
                <a:latin typeface="Muli Regular"/>
                <a:ea typeface="Muli Regular"/>
                <a:cs typeface="Muli Regular"/>
                <a:sym typeface="Muli Regular"/>
              </a:rPr>
              <a:t> columns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3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85847" y="8897936"/>
            <a:ext cx="3086100" cy="515961"/>
            <a:chOff x="0" y="0"/>
            <a:chExt cx="812800" cy="1358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135891"/>
            </a:xfrm>
            <a:custGeom>
              <a:avLst/>
              <a:gdLst/>
              <a:ahLst/>
              <a:cxnLst/>
              <a:rect r="r" b="b" t="t" l="l"/>
              <a:pathLst>
                <a:path h="135891" w="812800">
                  <a:moveTo>
                    <a:pt x="406400" y="0"/>
                  </a:moveTo>
                  <a:cubicBezTo>
                    <a:pt x="181951" y="0"/>
                    <a:pt x="0" y="30420"/>
                    <a:pt x="0" y="67945"/>
                  </a:cubicBezTo>
                  <a:cubicBezTo>
                    <a:pt x="0" y="105471"/>
                    <a:pt x="181951" y="135891"/>
                    <a:pt x="406400" y="135891"/>
                  </a:cubicBezTo>
                  <a:cubicBezTo>
                    <a:pt x="630849" y="135891"/>
                    <a:pt x="812800" y="105471"/>
                    <a:pt x="812800" y="67945"/>
                  </a:cubicBezTo>
                  <a:cubicBezTo>
                    <a:pt x="812800" y="30420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-34885"/>
              <a:ext cx="660400" cy="1580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8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72637" y="1028700"/>
            <a:ext cx="3769738" cy="8165498"/>
            <a:chOff x="0" y="0"/>
            <a:chExt cx="5026318" cy="1088733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2557993" y="670805"/>
              <a:ext cx="2127214" cy="2127214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F4434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8"/>
                  </a:lnSpc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26318" cy="10887330"/>
            </a:xfrm>
            <a:custGeom>
              <a:avLst/>
              <a:gdLst/>
              <a:ahLst/>
              <a:cxnLst/>
              <a:rect r="r" b="b" t="t" l="l"/>
              <a:pathLst>
                <a:path h="10887330" w="5026318">
                  <a:moveTo>
                    <a:pt x="0" y="0"/>
                  </a:moveTo>
                  <a:lnTo>
                    <a:pt x="5026318" y="0"/>
                  </a:lnTo>
                  <a:lnTo>
                    <a:pt x="5026318" y="10887330"/>
                  </a:lnTo>
                  <a:lnTo>
                    <a:pt x="0" y="108873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6835916" y="2512488"/>
            <a:ext cx="11452084" cy="6017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28369" indent="-464185" lvl="1">
              <a:lnSpc>
                <a:spcPts val="4729"/>
              </a:lnSpc>
              <a:buFont typeface="Arial"/>
              <a:buChar char="•"/>
            </a:pPr>
            <a:r>
              <a:rPr lang="en-US" sz="4299" spc="-128">
                <a:solidFill>
                  <a:srgbClr val="1F191A"/>
                </a:solidFill>
                <a:latin typeface="Muli Regular"/>
                <a:ea typeface="Muli Regular"/>
                <a:cs typeface="Muli Regular"/>
                <a:sym typeface="Muli Regular"/>
              </a:rPr>
              <a:t>Evaluate sales performance over time &amp; regions.</a:t>
            </a:r>
          </a:p>
          <a:p>
            <a:pPr algn="l" marL="928369" indent="-464185" lvl="1">
              <a:lnSpc>
                <a:spcPts val="4729"/>
              </a:lnSpc>
              <a:buFont typeface="Arial"/>
              <a:buChar char="•"/>
            </a:pPr>
            <a:r>
              <a:rPr lang="en-US" sz="4299" spc="-128">
                <a:solidFill>
                  <a:srgbClr val="1F191A"/>
                </a:solidFill>
                <a:latin typeface="Muli Regular"/>
                <a:ea typeface="Muli Regular"/>
                <a:cs typeface="Muli Regular"/>
                <a:sym typeface="Muli Regular"/>
              </a:rPr>
              <a:t>Understand customer behavior (repeat vs new).</a:t>
            </a:r>
          </a:p>
          <a:p>
            <a:pPr algn="l" marL="928369" indent="-464185" lvl="1">
              <a:lnSpc>
                <a:spcPts val="4729"/>
              </a:lnSpc>
              <a:buFont typeface="Arial"/>
              <a:buChar char="•"/>
            </a:pPr>
            <a:r>
              <a:rPr lang="en-US" sz="4299" spc="-128">
                <a:solidFill>
                  <a:srgbClr val="1F191A"/>
                </a:solidFill>
                <a:latin typeface="Muli Regular"/>
                <a:ea typeface="Muli Regular"/>
                <a:cs typeface="Muli Regular"/>
                <a:sym typeface="Muli Regular"/>
              </a:rPr>
              <a:t>Assess product &amp; category performance.</a:t>
            </a:r>
          </a:p>
          <a:p>
            <a:pPr algn="l" marL="928369" indent="-464185" lvl="1">
              <a:lnSpc>
                <a:spcPts val="4729"/>
              </a:lnSpc>
              <a:buFont typeface="Arial"/>
              <a:buChar char="•"/>
            </a:pPr>
            <a:r>
              <a:rPr lang="en-US" sz="4299" spc="-128">
                <a:solidFill>
                  <a:srgbClr val="1F191A"/>
                </a:solidFill>
                <a:latin typeface="Muli Regular"/>
                <a:ea typeface="Muli Regular"/>
                <a:cs typeface="Muli Regular"/>
                <a:sym typeface="Muli Regular"/>
              </a:rPr>
              <a:t>Measure operational efficiency (shipping &amp; processing).</a:t>
            </a:r>
          </a:p>
          <a:p>
            <a:pPr algn="l" marL="928369" indent="-464185" lvl="1">
              <a:lnSpc>
                <a:spcPts val="4729"/>
              </a:lnSpc>
              <a:buFont typeface="Arial"/>
              <a:buChar char="•"/>
            </a:pPr>
            <a:r>
              <a:rPr lang="en-US" sz="4299" spc="-128">
                <a:solidFill>
                  <a:srgbClr val="1F191A"/>
                </a:solidFill>
                <a:latin typeface="Muli Regular"/>
                <a:ea typeface="Muli Regular"/>
                <a:cs typeface="Muli Regular"/>
                <a:sym typeface="Muli Regular"/>
              </a:rPr>
              <a:t>Provide insights that support strategic decisions.</a:t>
            </a:r>
          </a:p>
          <a:p>
            <a:pPr algn="l" marL="0" indent="0" lvl="0">
              <a:lnSpc>
                <a:spcPts val="4729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5400000">
            <a:off x="16135588" y="8529748"/>
            <a:ext cx="736376" cy="736376"/>
          </a:xfrm>
          <a:custGeom>
            <a:avLst/>
            <a:gdLst/>
            <a:ahLst/>
            <a:cxnLst/>
            <a:rect r="r" b="b" t="t" l="l"/>
            <a:pathLst>
              <a:path h="736376" w="736376">
                <a:moveTo>
                  <a:pt x="0" y="0"/>
                </a:moveTo>
                <a:lnTo>
                  <a:pt x="736377" y="0"/>
                </a:lnTo>
                <a:lnTo>
                  <a:pt x="736377" y="736376"/>
                </a:lnTo>
                <a:lnTo>
                  <a:pt x="0" y="7363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835916" y="745919"/>
            <a:ext cx="7817259" cy="1171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25"/>
              </a:lnSpc>
            </a:pPr>
            <a:r>
              <a:rPr lang="en-US" b="true" sz="8500" spc="-170">
                <a:solidFill>
                  <a:srgbClr val="004AAD"/>
                </a:solidFill>
                <a:latin typeface="Muli Regular Bold"/>
                <a:ea typeface="Muli Regular Bold"/>
                <a:cs typeface="Muli Regular Bold"/>
                <a:sym typeface="Muli Regular Bold"/>
              </a:rPr>
              <a:t>Objectives</a:t>
            </a:r>
            <a:r>
              <a:rPr lang="en-US" b="true" sz="8500" spc="-170">
                <a:solidFill>
                  <a:srgbClr val="004AAD"/>
                </a:solidFill>
                <a:latin typeface="Muli Regular Bold"/>
                <a:ea typeface="Muli Regular Bold"/>
                <a:cs typeface="Muli Regular Bold"/>
                <a:sym typeface="Muli Regular Bold"/>
              </a:rPr>
              <a:t>...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3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357326" y="1280336"/>
            <a:ext cx="7810679" cy="7726327"/>
            <a:chOff x="0" y="0"/>
            <a:chExt cx="2191130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1130" cy="2167467"/>
            </a:xfrm>
            <a:custGeom>
              <a:avLst/>
              <a:gdLst/>
              <a:ahLst/>
              <a:cxnLst/>
              <a:rect r="r" b="b" t="t" l="l"/>
              <a:pathLst>
                <a:path h="2167467" w="2191130">
                  <a:moveTo>
                    <a:pt x="0" y="0"/>
                  </a:moveTo>
                  <a:lnTo>
                    <a:pt x="2191130" y="0"/>
                  </a:lnTo>
                  <a:lnTo>
                    <a:pt x="2191130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191130" cy="2215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8"/>
                </a:lnSpc>
              </a:pPr>
            </a:p>
          </p:txBody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028272" y="947214"/>
            <a:ext cx="8468788" cy="8392572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343025" y="1209675"/>
            <a:ext cx="6521213" cy="253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73"/>
              </a:lnSpc>
              <a:spcBef>
                <a:spcPct val="0"/>
              </a:spcBef>
            </a:pPr>
            <a:r>
              <a:rPr lang="en-US" sz="9773" spc="-293">
                <a:solidFill>
                  <a:srgbClr val="1F191A"/>
                </a:solidFill>
                <a:latin typeface="Aileron"/>
                <a:ea typeface="Aileron"/>
                <a:cs typeface="Aileron"/>
                <a:sym typeface="Aileron"/>
              </a:rPr>
              <a:t>Busin</a:t>
            </a:r>
            <a:r>
              <a:rPr lang="en-US" sz="9773" spc="-293" strike="noStrike" u="none">
                <a:solidFill>
                  <a:srgbClr val="1F191A"/>
                </a:solidFill>
                <a:latin typeface="Aileron"/>
                <a:ea typeface="Aileron"/>
                <a:cs typeface="Aileron"/>
                <a:sym typeface="Aileron"/>
              </a:rPr>
              <a:t>ess Questions 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03144" y="4375586"/>
            <a:ext cx="8440856" cy="4180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3872" indent="-366936" lvl="1">
              <a:lnSpc>
                <a:spcPts val="4758"/>
              </a:lnSpc>
              <a:buFont typeface="Arial"/>
              <a:buChar char="•"/>
            </a:pPr>
            <a:r>
              <a:rPr lang="en-US" sz="3399" spc="-33">
                <a:solidFill>
                  <a:srgbClr val="1F191A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How are sales trending over time?</a:t>
            </a:r>
          </a:p>
          <a:p>
            <a:pPr algn="l" marL="733872" indent="-366936" lvl="1">
              <a:lnSpc>
                <a:spcPts val="4758"/>
              </a:lnSpc>
              <a:buFont typeface="Arial"/>
              <a:buChar char="•"/>
            </a:pPr>
            <a:r>
              <a:rPr lang="en-US" sz="3399" spc="-33">
                <a:solidFill>
                  <a:srgbClr val="1F191A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Which products/categories drive the most revenue?</a:t>
            </a:r>
          </a:p>
          <a:p>
            <a:pPr algn="l" marL="733872" indent="-366936" lvl="1">
              <a:lnSpc>
                <a:spcPts val="4758"/>
              </a:lnSpc>
              <a:buFont typeface="Arial"/>
              <a:buChar char="•"/>
            </a:pPr>
            <a:r>
              <a:rPr lang="en-US" sz="3399" spc="-33">
                <a:solidFill>
                  <a:srgbClr val="1F191A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Which regions perform best?</a:t>
            </a:r>
          </a:p>
          <a:p>
            <a:pPr algn="l" marL="733872" indent="-366936" lvl="1">
              <a:lnSpc>
                <a:spcPts val="4758"/>
              </a:lnSpc>
              <a:buFont typeface="Arial"/>
              <a:buChar char="•"/>
            </a:pPr>
            <a:r>
              <a:rPr lang="en-US" sz="3399" spc="-33">
                <a:solidFill>
                  <a:srgbClr val="1F191A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What is the customer retention level?</a:t>
            </a:r>
          </a:p>
          <a:p>
            <a:pPr algn="l" marL="733872" indent="-366936" lvl="1">
              <a:lnSpc>
                <a:spcPts val="4758"/>
              </a:lnSpc>
              <a:buFont typeface="Arial"/>
              <a:buChar char="•"/>
            </a:pPr>
            <a:r>
              <a:rPr lang="en-US" sz="3399" spc="-33">
                <a:solidFill>
                  <a:srgbClr val="1F191A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How efficient is order processing?</a:t>
            </a:r>
          </a:p>
          <a:p>
            <a:pPr algn="l" marL="0" indent="0" lvl="0">
              <a:lnSpc>
                <a:spcPts val="475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3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3229" y="483016"/>
            <a:ext cx="17501543" cy="9320968"/>
            <a:chOff x="0" y="0"/>
            <a:chExt cx="4609460" cy="24549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9460" cy="2454905"/>
            </a:xfrm>
            <a:custGeom>
              <a:avLst/>
              <a:gdLst/>
              <a:ahLst/>
              <a:cxnLst/>
              <a:rect r="r" b="b" t="t" l="l"/>
              <a:pathLst>
                <a:path h="2454905" w="4609460">
                  <a:moveTo>
                    <a:pt x="22560" y="0"/>
                  </a:moveTo>
                  <a:lnTo>
                    <a:pt x="4586899" y="0"/>
                  </a:lnTo>
                  <a:cubicBezTo>
                    <a:pt x="4599359" y="0"/>
                    <a:pt x="4609460" y="10101"/>
                    <a:pt x="4609460" y="22560"/>
                  </a:cubicBezTo>
                  <a:lnTo>
                    <a:pt x="4609460" y="2432345"/>
                  </a:lnTo>
                  <a:cubicBezTo>
                    <a:pt x="4609460" y="2444805"/>
                    <a:pt x="4599359" y="2454905"/>
                    <a:pt x="4586899" y="2454905"/>
                  </a:cubicBezTo>
                  <a:lnTo>
                    <a:pt x="22560" y="2454905"/>
                  </a:lnTo>
                  <a:cubicBezTo>
                    <a:pt x="16577" y="2454905"/>
                    <a:pt x="10839" y="2452528"/>
                    <a:pt x="6608" y="2448297"/>
                  </a:cubicBezTo>
                  <a:cubicBezTo>
                    <a:pt x="2377" y="2444067"/>
                    <a:pt x="0" y="2438328"/>
                    <a:pt x="0" y="2432345"/>
                  </a:cubicBezTo>
                  <a:lnTo>
                    <a:pt x="0" y="22560"/>
                  </a:lnTo>
                  <a:cubicBezTo>
                    <a:pt x="0" y="16577"/>
                    <a:pt x="2377" y="10839"/>
                    <a:pt x="6608" y="6608"/>
                  </a:cubicBezTo>
                  <a:cubicBezTo>
                    <a:pt x="10839" y="2377"/>
                    <a:pt x="16577" y="0"/>
                    <a:pt x="22560" y="0"/>
                  </a:cubicBezTo>
                  <a:close/>
                </a:path>
              </a:pathLst>
            </a:custGeom>
            <a:solidFill>
              <a:srgbClr val="FCF3D4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9460" cy="25025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26741" y="1860091"/>
            <a:ext cx="14924022" cy="2305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25"/>
              </a:lnSpc>
            </a:pPr>
            <a:r>
              <a:rPr lang="en-US" b="true" sz="8500" spc="-170">
                <a:solidFill>
                  <a:srgbClr val="004AAD"/>
                </a:solidFill>
                <a:latin typeface="Muli Regular Bold"/>
                <a:ea typeface="Muli Regular Bold"/>
                <a:cs typeface="Muli Regular Bold"/>
                <a:sym typeface="Muli Regular Bold"/>
              </a:rPr>
              <a:t>Where needs </a:t>
            </a:r>
            <a:r>
              <a:rPr lang="en-US" b="true" sz="8500" spc="-170">
                <a:solidFill>
                  <a:srgbClr val="004AAD"/>
                </a:solidFill>
                <a:latin typeface="Muli Regular Bold"/>
                <a:ea typeface="Muli Regular Bold"/>
                <a:cs typeface="Muli Regular Bold"/>
                <a:sym typeface="Muli Regular Bold"/>
              </a:rPr>
              <a:t>the superstore invest next?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46577" y="5076825"/>
            <a:ext cx="14704395" cy="2490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977"/>
              </a:lnSpc>
            </a:pPr>
            <a:r>
              <a:rPr lang="en-US" b="true" sz="3555">
                <a:solidFill>
                  <a:srgbClr val="050150"/>
                </a:solidFill>
                <a:latin typeface="Muli Regular Bold"/>
                <a:ea typeface="Muli Regular Bold"/>
                <a:cs typeface="Muli Regular Bold"/>
                <a:sym typeface="Muli Regular Bold"/>
              </a:rPr>
              <a:t>◦ Show grow</a:t>
            </a:r>
            <a:r>
              <a:rPr lang="en-US" b="true" sz="3555">
                <a:solidFill>
                  <a:srgbClr val="050150"/>
                </a:solidFill>
                <a:latin typeface="Muli Regular Bold"/>
                <a:ea typeface="Muli Regular Bold"/>
                <a:cs typeface="Muli Regular Bold"/>
                <a:sym typeface="Muli Regular Bold"/>
              </a:rPr>
              <a:t>th areas (ex: strong sales in Technology). </a:t>
            </a:r>
          </a:p>
          <a:p>
            <a:pPr algn="just" marL="0" indent="0" lvl="0">
              <a:lnSpc>
                <a:spcPts val="4977"/>
              </a:lnSpc>
            </a:pPr>
            <a:r>
              <a:rPr lang="en-US" b="true" sz="3555">
                <a:solidFill>
                  <a:srgbClr val="050150"/>
                </a:solidFill>
                <a:latin typeface="Muli Regular Bold"/>
                <a:ea typeface="Muli Regular Bold"/>
                <a:cs typeface="Muli Regular Bold"/>
                <a:sym typeface="Muli Regular Bold"/>
              </a:rPr>
              <a:t>◦ Show risks (ex: long shipping times in certain regions). </a:t>
            </a:r>
          </a:p>
          <a:p>
            <a:pPr algn="just" marL="0" indent="0" lvl="0">
              <a:lnSpc>
                <a:spcPts val="4977"/>
              </a:lnSpc>
            </a:pPr>
            <a:r>
              <a:rPr lang="en-US" b="true" sz="3555">
                <a:solidFill>
                  <a:srgbClr val="050150"/>
                </a:solidFill>
                <a:latin typeface="Muli Regular Bold"/>
                <a:ea typeface="Muli Regular Bold"/>
                <a:cs typeface="Muli Regular Bold"/>
                <a:sym typeface="Muli Regular Bold"/>
              </a:rPr>
              <a:t>◦ Suggest opportunities (ex: invest in faster logistics, push profitable</a:t>
            </a:r>
          </a:p>
          <a:p>
            <a:pPr algn="just" marL="0" indent="0" lvl="0">
              <a:lnSpc>
                <a:spcPts val="4977"/>
              </a:lnSpc>
            </a:pPr>
            <a:r>
              <a:rPr lang="en-US" b="true" sz="3555">
                <a:solidFill>
                  <a:srgbClr val="050150"/>
                </a:solidFill>
                <a:latin typeface="Muli Regular Bold"/>
                <a:ea typeface="Muli Regular Bold"/>
                <a:cs typeface="Muli Regular Bold"/>
                <a:sym typeface="Muli Regular Bold"/>
              </a:rPr>
              <a:t>     categories, nurture repeat customers).</a:t>
            </a:r>
          </a:p>
        </p:txBody>
      </p:sp>
      <p:sp>
        <p:nvSpPr>
          <p:cNvPr name="AutoShape 7" id="7"/>
          <p:cNvSpPr/>
          <p:nvPr/>
        </p:nvSpPr>
        <p:spPr>
          <a:xfrm>
            <a:off x="1326741" y="4184193"/>
            <a:ext cx="14822296" cy="0"/>
          </a:xfrm>
          <a:prstGeom prst="line">
            <a:avLst/>
          </a:prstGeom>
          <a:ln cap="flat" w="38100">
            <a:solidFill>
              <a:srgbClr val="05015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5738718" y="334451"/>
            <a:ext cx="2156053" cy="1388498"/>
          </a:xfrm>
          <a:custGeom>
            <a:avLst/>
            <a:gdLst/>
            <a:ahLst/>
            <a:cxnLst/>
            <a:rect r="r" b="b" t="t" l="l"/>
            <a:pathLst>
              <a:path h="1388498" w="2156053">
                <a:moveTo>
                  <a:pt x="0" y="0"/>
                </a:moveTo>
                <a:lnTo>
                  <a:pt x="2156053" y="0"/>
                </a:lnTo>
                <a:lnTo>
                  <a:pt x="2156053" y="1388498"/>
                </a:lnTo>
                <a:lnTo>
                  <a:pt x="0" y="13884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3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123950"/>
            <a:ext cx="7593211" cy="1616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99"/>
              </a:lnSpc>
            </a:pPr>
            <a:r>
              <a:rPr lang="en-US" sz="9999" spc="-499">
                <a:solidFill>
                  <a:srgbClr val="004AAD"/>
                </a:solidFill>
                <a:latin typeface="Agrandir"/>
                <a:ea typeface="Agrandir"/>
                <a:cs typeface="Agrandir"/>
                <a:sym typeface="Agrandir"/>
              </a:rPr>
              <a:t>KPIs Overview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9984177" cy="10287000"/>
          </a:xfrm>
          <a:custGeom>
            <a:avLst/>
            <a:gdLst/>
            <a:ahLst/>
            <a:cxnLst/>
            <a:rect r="r" b="b" t="t" l="l"/>
            <a:pathLst>
              <a:path h="10287000" w="9984177">
                <a:moveTo>
                  <a:pt x="0" y="0"/>
                </a:moveTo>
                <a:lnTo>
                  <a:pt x="9984177" y="0"/>
                </a:lnTo>
                <a:lnTo>
                  <a:pt x="998417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73" t="-62" r="-1023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975885">
            <a:off x="7246595" y="1271390"/>
            <a:ext cx="11774420" cy="10361490"/>
          </a:xfrm>
          <a:custGeom>
            <a:avLst/>
            <a:gdLst/>
            <a:ahLst/>
            <a:cxnLst/>
            <a:rect r="r" b="b" t="t" l="l"/>
            <a:pathLst>
              <a:path h="10361490" w="11774420">
                <a:moveTo>
                  <a:pt x="0" y="0"/>
                </a:moveTo>
                <a:lnTo>
                  <a:pt x="11774420" y="0"/>
                </a:lnTo>
                <a:lnTo>
                  <a:pt x="11774420" y="10361490"/>
                </a:lnTo>
                <a:lnTo>
                  <a:pt x="0" y="103614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144000" y="0"/>
            <a:ext cx="5354117" cy="10189495"/>
          </a:xfrm>
          <a:custGeom>
            <a:avLst/>
            <a:gdLst/>
            <a:ahLst/>
            <a:cxnLst/>
            <a:rect r="r" b="b" t="t" l="l"/>
            <a:pathLst>
              <a:path h="10189495" w="5354117">
                <a:moveTo>
                  <a:pt x="0" y="0"/>
                </a:moveTo>
                <a:lnTo>
                  <a:pt x="5354117" y="0"/>
                </a:lnTo>
                <a:lnTo>
                  <a:pt x="5354117" y="10189495"/>
                </a:lnTo>
                <a:lnTo>
                  <a:pt x="0" y="1018949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87454" y="3075523"/>
            <a:ext cx="8196699" cy="676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0366" indent="-535183" lvl="1">
              <a:lnSpc>
                <a:spcPts val="5949"/>
              </a:lnSpc>
              <a:spcBef>
                <a:spcPct val="0"/>
              </a:spcBef>
              <a:buFont typeface="Arial"/>
              <a:buChar char="•"/>
            </a:pPr>
            <a:r>
              <a:rPr lang="en-US" sz="4957">
                <a:solidFill>
                  <a:srgbClr val="1A2526"/>
                </a:solidFill>
                <a:latin typeface="TT Fors Display"/>
                <a:ea typeface="TT Fors Display"/>
                <a:cs typeface="TT Fors Display"/>
                <a:sym typeface="TT Fors Display"/>
              </a:rPr>
              <a:t>Total Sales  </a:t>
            </a:r>
          </a:p>
          <a:p>
            <a:pPr algn="l" marL="1070366" indent="-535183" lvl="1">
              <a:lnSpc>
                <a:spcPts val="5949"/>
              </a:lnSpc>
              <a:spcBef>
                <a:spcPct val="0"/>
              </a:spcBef>
              <a:buFont typeface="Arial"/>
              <a:buChar char="•"/>
            </a:pPr>
            <a:r>
              <a:rPr lang="en-US" sz="4957">
                <a:solidFill>
                  <a:srgbClr val="1A2526"/>
                </a:solidFill>
                <a:latin typeface="TT Fors Display"/>
                <a:ea typeface="TT Fors Display"/>
                <a:cs typeface="TT Fors Display"/>
                <a:sym typeface="TT Fors Display"/>
              </a:rPr>
              <a:t>Total Profit  </a:t>
            </a:r>
          </a:p>
          <a:p>
            <a:pPr algn="l" marL="1070366" indent="-535183" lvl="1">
              <a:lnSpc>
                <a:spcPts val="5949"/>
              </a:lnSpc>
              <a:spcBef>
                <a:spcPct val="0"/>
              </a:spcBef>
              <a:buFont typeface="Arial"/>
              <a:buChar char="•"/>
            </a:pPr>
            <a:r>
              <a:rPr lang="en-US" sz="4957">
                <a:solidFill>
                  <a:srgbClr val="1A2526"/>
                </a:solidFill>
                <a:latin typeface="TT Fors Display"/>
                <a:ea typeface="TT Fors Display"/>
                <a:cs typeface="TT Fors Display"/>
                <a:sym typeface="TT Fors Display"/>
              </a:rPr>
              <a:t>Sales Growth Percentage  </a:t>
            </a:r>
          </a:p>
          <a:p>
            <a:pPr algn="l" marL="1070366" indent="-535183" lvl="1">
              <a:lnSpc>
                <a:spcPts val="5949"/>
              </a:lnSpc>
              <a:spcBef>
                <a:spcPct val="0"/>
              </a:spcBef>
              <a:buFont typeface="Arial"/>
              <a:buChar char="•"/>
            </a:pPr>
            <a:r>
              <a:rPr lang="en-US" sz="4957">
                <a:solidFill>
                  <a:srgbClr val="1A2526"/>
                </a:solidFill>
                <a:latin typeface="TT Fors Display"/>
                <a:ea typeface="TT Fors Display"/>
                <a:cs typeface="TT Fors Display"/>
                <a:sym typeface="TT Fors Display"/>
              </a:rPr>
              <a:t>Total Orders  </a:t>
            </a:r>
          </a:p>
          <a:p>
            <a:pPr algn="l" marL="1070366" indent="-535183" lvl="1">
              <a:lnSpc>
                <a:spcPts val="5949"/>
              </a:lnSpc>
              <a:spcBef>
                <a:spcPct val="0"/>
              </a:spcBef>
              <a:buFont typeface="Arial"/>
              <a:buChar char="•"/>
            </a:pPr>
            <a:r>
              <a:rPr lang="en-US" sz="4957">
                <a:solidFill>
                  <a:srgbClr val="1A2526"/>
                </a:solidFill>
                <a:latin typeface="TT Fors Display"/>
                <a:ea typeface="TT Fors Display"/>
                <a:cs typeface="TT Fors Display"/>
                <a:sym typeface="TT Fors Display"/>
              </a:rPr>
              <a:t>Average Order Processing Time  </a:t>
            </a:r>
          </a:p>
          <a:p>
            <a:pPr algn="l" marL="1070366" indent="-535183" lvl="1">
              <a:lnSpc>
                <a:spcPts val="5949"/>
              </a:lnSpc>
              <a:spcBef>
                <a:spcPct val="0"/>
              </a:spcBef>
              <a:buFont typeface="Arial"/>
              <a:buChar char="•"/>
            </a:pPr>
            <a:r>
              <a:rPr lang="en-US" sz="4957">
                <a:solidFill>
                  <a:srgbClr val="1A2526"/>
                </a:solidFill>
                <a:latin typeface="TT Fors Display"/>
                <a:ea typeface="TT Fors Display"/>
                <a:cs typeface="TT Fors Display"/>
                <a:sym typeface="TT Fors Display"/>
              </a:rPr>
              <a:t>Customer Count  </a:t>
            </a:r>
          </a:p>
          <a:p>
            <a:pPr algn="l" marL="1070366" indent="-535183" lvl="1">
              <a:lnSpc>
                <a:spcPts val="5949"/>
              </a:lnSpc>
              <a:spcBef>
                <a:spcPct val="0"/>
              </a:spcBef>
              <a:buFont typeface="Arial"/>
              <a:buChar char="•"/>
            </a:pPr>
            <a:r>
              <a:rPr lang="en-US" sz="4957">
                <a:solidFill>
                  <a:srgbClr val="1A2526"/>
                </a:solidFill>
                <a:latin typeface="TT Fors Display"/>
                <a:ea typeface="TT Fors Display"/>
                <a:cs typeface="TT Fors Display"/>
                <a:sym typeface="TT Fors Display"/>
              </a:rPr>
              <a:t>Repeat Customer Rate  </a:t>
            </a:r>
          </a:p>
          <a:p>
            <a:pPr algn="l" marL="1070366" indent="-535183" lvl="1">
              <a:lnSpc>
                <a:spcPts val="5949"/>
              </a:lnSpc>
              <a:spcBef>
                <a:spcPct val="0"/>
              </a:spcBef>
              <a:buFont typeface="Arial"/>
              <a:buChar char="•"/>
            </a:pPr>
            <a:r>
              <a:rPr lang="en-US" sz="4957">
                <a:solidFill>
                  <a:srgbClr val="1A2526"/>
                </a:solidFill>
                <a:latin typeface="TT Fors Display"/>
                <a:ea typeface="TT Fors Display"/>
                <a:cs typeface="TT Fors Display"/>
                <a:sym typeface="TT Fors Display"/>
              </a:rPr>
              <a:t>Category Contribution 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3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6457" y="-62668"/>
            <a:ext cx="17501543" cy="9320968"/>
            <a:chOff x="0" y="0"/>
            <a:chExt cx="4609460" cy="24549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9460" cy="2454905"/>
            </a:xfrm>
            <a:custGeom>
              <a:avLst/>
              <a:gdLst/>
              <a:ahLst/>
              <a:cxnLst/>
              <a:rect r="r" b="b" t="t" l="l"/>
              <a:pathLst>
                <a:path h="2454905" w="4609460">
                  <a:moveTo>
                    <a:pt x="22560" y="0"/>
                  </a:moveTo>
                  <a:lnTo>
                    <a:pt x="4586899" y="0"/>
                  </a:lnTo>
                  <a:cubicBezTo>
                    <a:pt x="4599359" y="0"/>
                    <a:pt x="4609460" y="10101"/>
                    <a:pt x="4609460" y="22560"/>
                  </a:cubicBezTo>
                  <a:lnTo>
                    <a:pt x="4609460" y="2432345"/>
                  </a:lnTo>
                  <a:cubicBezTo>
                    <a:pt x="4609460" y="2444805"/>
                    <a:pt x="4599359" y="2454905"/>
                    <a:pt x="4586899" y="2454905"/>
                  </a:cubicBezTo>
                  <a:lnTo>
                    <a:pt x="22560" y="2454905"/>
                  </a:lnTo>
                  <a:cubicBezTo>
                    <a:pt x="16577" y="2454905"/>
                    <a:pt x="10839" y="2452528"/>
                    <a:pt x="6608" y="2448297"/>
                  </a:cubicBezTo>
                  <a:cubicBezTo>
                    <a:pt x="2377" y="2444067"/>
                    <a:pt x="0" y="2438328"/>
                    <a:pt x="0" y="2432345"/>
                  </a:cubicBezTo>
                  <a:lnTo>
                    <a:pt x="0" y="22560"/>
                  </a:lnTo>
                  <a:cubicBezTo>
                    <a:pt x="0" y="16577"/>
                    <a:pt x="2377" y="10839"/>
                    <a:pt x="6608" y="6608"/>
                  </a:cubicBezTo>
                  <a:cubicBezTo>
                    <a:pt x="10839" y="2377"/>
                    <a:pt x="16577" y="0"/>
                    <a:pt x="22560" y="0"/>
                  </a:cubicBezTo>
                  <a:close/>
                </a:path>
              </a:pathLst>
            </a:custGeom>
            <a:solidFill>
              <a:srgbClr val="FCF3D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9460" cy="25025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378150" y="2755976"/>
            <a:ext cx="16050547" cy="0"/>
          </a:xfrm>
          <a:prstGeom prst="line">
            <a:avLst/>
          </a:prstGeom>
          <a:ln cap="flat" w="38100">
            <a:solidFill>
              <a:srgbClr val="05015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5763474" y="334451"/>
            <a:ext cx="2156053" cy="1388498"/>
          </a:xfrm>
          <a:custGeom>
            <a:avLst/>
            <a:gdLst/>
            <a:ahLst/>
            <a:cxnLst/>
            <a:rect r="r" b="b" t="t" l="l"/>
            <a:pathLst>
              <a:path h="1388498" w="2156053">
                <a:moveTo>
                  <a:pt x="0" y="0"/>
                </a:moveTo>
                <a:lnTo>
                  <a:pt x="2156053" y="0"/>
                </a:lnTo>
                <a:lnTo>
                  <a:pt x="2156053" y="1388498"/>
                </a:lnTo>
                <a:lnTo>
                  <a:pt x="0" y="13884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6306924"/>
            <a:ext cx="13625141" cy="1583923"/>
          </a:xfrm>
          <a:custGeom>
            <a:avLst/>
            <a:gdLst/>
            <a:ahLst/>
            <a:cxnLst/>
            <a:rect r="r" b="b" t="t" l="l"/>
            <a:pathLst>
              <a:path h="1583923" w="13625141">
                <a:moveTo>
                  <a:pt x="0" y="0"/>
                </a:moveTo>
                <a:lnTo>
                  <a:pt x="13625141" y="0"/>
                </a:lnTo>
                <a:lnTo>
                  <a:pt x="13625141" y="1583923"/>
                </a:lnTo>
                <a:lnTo>
                  <a:pt x="0" y="15839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534203" y="8132877"/>
            <a:ext cx="14385324" cy="1816147"/>
          </a:xfrm>
          <a:custGeom>
            <a:avLst/>
            <a:gdLst/>
            <a:ahLst/>
            <a:cxnLst/>
            <a:rect r="r" b="b" t="t" l="l"/>
            <a:pathLst>
              <a:path h="1816147" w="14385324">
                <a:moveTo>
                  <a:pt x="0" y="0"/>
                </a:moveTo>
                <a:lnTo>
                  <a:pt x="14385324" y="0"/>
                </a:lnTo>
                <a:lnTo>
                  <a:pt x="14385324" y="1816147"/>
                </a:lnTo>
                <a:lnTo>
                  <a:pt x="0" y="18161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78150" y="1614609"/>
            <a:ext cx="14031382" cy="720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65"/>
              </a:lnSpc>
            </a:pPr>
            <a:r>
              <a:rPr lang="en-US" b="true" sz="5300" spc="-106">
                <a:solidFill>
                  <a:srgbClr val="004AAD"/>
                </a:solidFill>
                <a:latin typeface="Muli Regular Bold"/>
                <a:ea typeface="Muli Regular Bold"/>
                <a:cs typeface="Muli Regular Bold"/>
                <a:sym typeface="Muli Regular Bold"/>
              </a:rPr>
              <a:t>DATA PREPARATION &amp; MODELING SECTION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867973"/>
            <a:ext cx="16687213" cy="404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</a:p>
          <a:p>
            <a:pPr algn="l" marL="690884" indent="-345442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Muli Regular"/>
                <a:ea typeface="Muli Regular"/>
                <a:cs typeface="Muli Regular"/>
                <a:sym typeface="Muli Regular"/>
              </a:rPr>
              <a:t>Removed </a:t>
            </a:r>
            <a:r>
              <a:rPr lang="en-US" sz="3200">
                <a:solidFill>
                  <a:srgbClr val="000000"/>
                </a:solidFill>
                <a:latin typeface="Muli Regular"/>
                <a:ea typeface="Muli Regular"/>
                <a:cs typeface="Muli Regular"/>
                <a:sym typeface="Muli Regular"/>
              </a:rPr>
              <a:t>duplicates across Product IDs and Names.</a:t>
            </a:r>
          </a:p>
          <a:p>
            <a:pPr algn="l" marL="690884" indent="-345442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Muli Regular"/>
                <a:ea typeface="Muli Regular"/>
                <a:cs typeface="Muli Regular"/>
                <a:sym typeface="Muli Regular"/>
              </a:rPr>
              <a:t>Cleaned inconsistent product identifiers.</a:t>
            </a:r>
          </a:p>
          <a:p>
            <a:pPr algn="l" marL="690884" indent="-345442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Muli Regular"/>
                <a:ea typeface="Muli Regular"/>
                <a:cs typeface="Muli Regular"/>
                <a:sym typeface="Muli Regular"/>
              </a:rPr>
              <a:t>Formatted dates &amp; added Year/Month/Quarter columns.</a:t>
            </a:r>
          </a:p>
          <a:p>
            <a:pPr algn="l" marL="690884" indent="-345442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Muli Regular"/>
                <a:ea typeface="Muli Regular"/>
                <a:cs typeface="Muli Regular"/>
                <a:sym typeface="Muli Regular"/>
              </a:rPr>
              <a:t>Checked sales/discount outliers.</a:t>
            </a:r>
          </a:p>
          <a:p>
            <a:pPr algn="l">
              <a:lnSpc>
                <a:spcPts val="4480"/>
              </a:lnSpc>
            </a:pPr>
          </a:p>
          <a:p>
            <a:pPr algn="l" marL="0" indent="0" lvl="0">
              <a:lnSpc>
                <a:spcPts val="4480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6457" y="-62668"/>
            <a:ext cx="17501543" cy="9320968"/>
            <a:chOff x="0" y="0"/>
            <a:chExt cx="4609460" cy="24549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9460" cy="2454905"/>
            </a:xfrm>
            <a:custGeom>
              <a:avLst/>
              <a:gdLst/>
              <a:ahLst/>
              <a:cxnLst/>
              <a:rect r="r" b="b" t="t" l="l"/>
              <a:pathLst>
                <a:path h="2454905" w="4609460">
                  <a:moveTo>
                    <a:pt x="22560" y="0"/>
                  </a:moveTo>
                  <a:lnTo>
                    <a:pt x="4586899" y="0"/>
                  </a:lnTo>
                  <a:cubicBezTo>
                    <a:pt x="4599359" y="0"/>
                    <a:pt x="4609460" y="10101"/>
                    <a:pt x="4609460" y="22560"/>
                  </a:cubicBezTo>
                  <a:lnTo>
                    <a:pt x="4609460" y="2432345"/>
                  </a:lnTo>
                  <a:cubicBezTo>
                    <a:pt x="4609460" y="2444805"/>
                    <a:pt x="4599359" y="2454905"/>
                    <a:pt x="4586899" y="2454905"/>
                  </a:cubicBezTo>
                  <a:lnTo>
                    <a:pt x="22560" y="2454905"/>
                  </a:lnTo>
                  <a:cubicBezTo>
                    <a:pt x="16577" y="2454905"/>
                    <a:pt x="10839" y="2452528"/>
                    <a:pt x="6608" y="2448297"/>
                  </a:cubicBezTo>
                  <a:cubicBezTo>
                    <a:pt x="2377" y="2444067"/>
                    <a:pt x="0" y="2438328"/>
                    <a:pt x="0" y="2432345"/>
                  </a:cubicBezTo>
                  <a:lnTo>
                    <a:pt x="0" y="22560"/>
                  </a:lnTo>
                  <a:cubicBezTo>
                    <a:pt x="0" y="16577"/>
                    <a:pt x="2377" y="10839"/>
                    <a:pt x="6608" y="6608"/>
                  </a:cubicBezTo>
                  <a:cubicBezTo>
                    <a:pt x="10839" y="2377"/>
                    <a:pt x="16577" y="0"/>
                    <a:pt x="22560" y="0"/>
                  </a:cubicBezTo>
                  <a:close/>
                </a:path>
              </a:pathLst>
            </a:custGeom>
            <a:solidFill>
              <a:srgbClr val="FAF9F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9460" cy="25025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378150" y="2755976"/>
            <a:ext cx="16050547" cy="0"/>
          </a:xfrm>
          <a:prstGeom prst="line">
            <a:avLst/>
          </a:prstGeom>
          <a:ln cap="flat" w="38100">
            <a:solidFill>
              <a:srgbClr val="05015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5763474" y="334451"/>
            <a:ext cx="2156053" cy="1388498"/>
          </a:xfrm>
          <a:custGeom>
            <a:avLst/>
            <a:gdLst/>
            <a:ahLst/>
            <a:cxnLst/>
            <a:rect r="r" b="b" t="t" l="l"/>
            <a:pathLst>
              <a:path h="1388498" w="2156053">
                <a:moveTo>
                  <a:pt x="0" y="0"/>
                </a:moveTo>
                <a:lnTo>
                  <a:pt x="2156053" y="0"/>
                </a:lnTo>
                <a:lnTo>
                  <a:pt x="2156053" y="1388498"/>
                </a:lnTo>
                <a:lnTo>
                  <a:pt x="0" y="13884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78150" y="1323848"/>
            <a:ext cx="14031382" cy="883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20"/>
              </a:lnSpc>
            </a:pPr>
            <a:r>
              <a:rPr lang="en-US" b="true" sz="6400" spc="-128">
                <a:solidFill>
                  <a:srgbClr val="004AAD"/>
                </a:solidFill>
                <a:latin typeface="Muli Regular Bold"/>
                <a:ea typeface="Muli Regular Bold"/>
                <a:cs typeface="Muli Regular Bold"/>
                <a:sym typeface="Muli Regular Bold"/>
              </a:rPr>
              <a:t>Product ID Issue &amp; Solution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794076"/>
            <a:ext cx="10132194" cy="7925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0"/>
              </a:lnSpc>
            </a:pPr>
          </a:p>
          <a:p>
            <a:pPr algn="l" marL="818970" indent="-409485" lvl="1">
              <a:lnSpc>
                <a:spcPts val="5310"/>
              </a:lnSpc>
              <a:buFont typeface="Arial"/>
              <a:buChar char="•"/>
            </a:pPr>
            <a:r>
              <a:rPr lang="en-US" sz="3793">
                <a:solidFill>
                  <a:srgbClr val="1A2526"/>
                </a:solidFill>
                <a:latin typeface="Muli Regular"/>
                <a:ea typeface="Muli Regular"/>
                <a:cs typeface="Muli Regular"/>
                <a:sym typeface="Muli Regular"/>
              </a:rPr>
              <a:t>Pr</a:t>
            </a:r>
            <a:r>
              <a:rPr lang="en-US" sz="3793">
                <a:solidFill>
                  <a:srgbClr val="1A2526"/>
                </a:solidFill>
                <a:latin typeface="Muli Regular"/>
                <a:ea typeface="Muli Regular"/>
                <a:cs typeface="Muli Regular"/>
                <a:sym typeface="Muli Regular"/>
              </a:rPr>
              <a:t>oblem:</a:t>
            </a:r>
            <a:r>
              <a:rPr lang="en-US" sz="3793">
                <a:solidFill>
                  <a:srgbClr val="1A2526"/>
                </a:solidFill>
                <a:latin typeface="Muli Regular"/>
                <a:ea typeface="Muli Regular"/>
                <a:cs typeface="Muli Regular"/>
                <a:sym typeface="Muli Regular"/>
              </a:rPr>
              <a:t> S</a:t>
            </a:r>
            <a:r>
              <a:rPr lang="en-US" sz="3793">
                <a:solidFill>
                  <a:srgbClr val="1A2526"/>
                </a:solidFill>
                <a:latin typeface="Muli Regular"/>
                <a:ea typeface="Muli Regular"/>
                <a:cs typeface="Muli Regular"/>
                <a:sym typeface="Muli Regular"/>
              </a:rPr>
              <a:t>ame product name with multiple IDs &amp; </a:t>
            </a:r>
            <a:r>
              <a:rPr lang="en-US" sz="3793">
                <a:solidFill>
                  <a:srgbClr val="1A2526"/>
                </a:solidFill>
                <a:latin typeface="Muli Regular"/>
                <a:ea typeface="Muli Regular"/>
                <a:cs typeface="Muli Regular"/>
                <a:sym typeface="Muli Regular"/>
              </a:rPr>
              <a:t>vice versa.</a:t>
            </a:r>
          </a:p>
          <a:p>
            <a:pPr algn="l" marL="818970" indent="-409485" lvl="1">
              <a:lnSpc>
                <a:spcPts val="5310"/>
              </a:lnSpc>
              <a:buFont typeface="Arial"/>
              <a:buChar char="•"/>
            </a:pPr>
            <a:r>
              <a:rPr lang="en-US" sz="3793">
                <a:solidFill>
                  <a:srgbClr val="1A2526"/>
                </a:solidFill>
                <a:latin typeface="Muli Regular"/>
                <a:ea typeface="Muli Regular"/>
                <a:cs typeface="Muli Regular"/>
                <a:sym typeface="Muli Regular"/>
              </a:rPr>
              <a:t>Caused incorrect Many-to-Many relationships.</a:t>
            </a:r>
          </a:p>
          <a:p>
            <a:pPr algn="l" marL="818970" indent="-409485" lvl="1">
              <a:lnSpc>
                <a:spcPts val="5310"/>
              </a:lnSpc>
              <a:buFont typeface="Arial"/>
              <a:buChar char="•"/>
            </a:pPr>
            <a:r>
              <a:rPr lang="en-US" sz="3793">
                <a:solidFill>
                  <a:srgbClr val="1A2526"/>
                </a:solidFill>
                <a:latin typeface="Muli Regular"/>
                <a:ea typeface="Muli Regular"/>
                <a:cs typeface="Muli Regular"/>
                <a:sym typeface="Muli Regular"/>
              </a:rPr>
              <a:t>Solution:</a:t>
            </a:r>
          </a:p>
          <a:p>
            <a:pPr algn="l" marL="1637939" indent="-545980" lvl="2">
              <a:lnSpc>
                <a:spcPts val="5310"/>
              </a:lnSpc>
              <a:buFont typeface="Arial"/>
              <a:buChar char="⚬"/>
            </a:pPr>
            <a:r>
              <a:rPr lang="en-US" sz="3793">
                <a:solidFill>
                  <a:srgbClr val="1A2526"/>
                </a:solidFill>
                <a:latin typeface="Muli Regular"/>
                <a:ea typeface="Muli Regular"/>
                <a:cs typeface="Muli Regular"/>
                <a:sym typeface="Muli Regular"/>
              </a:rPr>
              <a:t>Rename original ID → Product Serial</a:t>
            </a:r>
          </a:p>
          <a:p>
            <a:pPr algn="l" marL="1637939" indent="-545980" lvl="2">
              <a:lnSpc>
                <a:spcPts val="5310"/>
              </a:lnSpc>
              <a:buFont typeface="Arial"/>
              <a:buChar char="⚬"/>
            </a:pPr>
            <a:r>
              <a:rPr lang="en-US" sz="3793">
                <a:solidFill>
                  <a:srgbClr val="1A2526"/>
                </a:solidFill>
                <a:latin typeface="Muli Regular"/>
                <a:ea typeface="Muli Regular"/>
                <a:cs typeface="Muli Regular"/>
                <a:sym typeface="Muli Regular"/>
              </a:rPr>
              <a:t>Create new unique Product ID using</a:t>
            </a:r>
            <a:r>
              <a:rPr lang="en-US" sz="3793">
                <a:solidFill>
                  <a:srgbClr val="1A2526"/>
                </a:solidFill>
                <a:latin typeface="Muli Regular"/>
                <a:ea typeface="Muli Regular"/>
                <a:cs typeface="Muli Regular"/>
                <a:sym typeface="Muli Regular"/>
              </a:rPr>
              <a:t> initials + serial</a:t>
            </a:r>
          </a:p>
          <a:p>
            <a:pPr algn="l" marL="1637939" indent="-545980" lvl="2">
              <a:lnSpc>
                <a:spcPts val="5310"/>
              </a:lnSpc>
              <a:buFont typeface="Arial"/>
              <a:buChar char="⚬"/>
            </a:pPr>
            <a:r>
              <a:rPr lang="en-US" sz="3793">
                <a:solidFill>
                  <a:srgbClr val="1A2526"/>
                </a:solidFill>
                <a:latin typeface="Muli Regular"/>
                <a:ea typeface="Muli Regular"/>
                <a:cs typeface="Muli Regular"/>
                <a:sym typeface="Muli Regular"/>
              </a:rPr>
              <a:t>Ensure proper 1-to-many modeling</a:t>
            </a:r>
          </a:p>
          <a:p>
            <a:pPr algn="l">
              <a:lnSpc>
                <a:spcPts val="5061"/>
              </a:lnSpc>
            </a:pPr>
          </a:p>
          <a:p>
            <a:pPr algn="l">
              <a:lnSpc>
                <a:spcPts val="5061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true" flipV="false" rot="0">
            <a:off x="7197610" y="1722949"/>
            <a:ext cx="13763791" cy="8229600"/>
          </a:xfrm>
          <a:custGeom>
            <a:avLst/>
            <a:gdLst/>
            <a:ahLst/>
            <a:cxnLst/>
            <a:rect r="r" b="b" t="t" l="l"/>
            <a:pathLst>
              <a:path h="8229600" w="13763791">
                <a:moveTo>
                  <a:pt x="13763791" y="0"/>
                </a:moveTo>
                <a:lnTo>
                  <a:pt x="0" y="0"/>
                </a:lnTo>
                <a:lnTo>
                  <a:pt x="0" y="8229600"/>
                </a:lnTo>
                <a:lnTo>
                  <a:pt x="13763791" y="8229600"/>
                </a:lnTo>
                <a:lnTo>
                  <a:pt x="13763791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3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700000">
            <a:off x="14524115" y="3683679"/>
            <a:ext cx="5470370" cy="5470370"/>
          </a:xfrm>
          <a:custGeom>
            <a:avLst/>
            <a:gdLst/>
            <a:ahLst/>
            <a:cxnLst/>
            <a:rect r="r" b="b" t="t" l="l"/>
            <a:pathLst>
              <a:path h="5470370" w="5470370">
                <a:moveTo>
                  <a:pt x="0" y="0"/>
                </a:moveTo>
                <a:lnTo>
                  <a:pt x="5470370" y="0"/>
                </a:lnTo>
                <a:lnTo>
                  <a:pt x="5470370" y="5470370"/>
                </a:lnTo>
                <a:lnTo>
                  <a:pt x="0" y="54703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 flipV="true">
            <a:off x="10261627" y="5143500"/>
            <a:ext cx="6426173" cy="0"/>
          </a:xfrm>
          <a:prstGeom prst="line">
            <a:avLst/>
          </a:prstGeom>
          <a:ln cap="flat" w="19050">
            <a:solidFill>
              <a:srgbClr val="635C4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true" flipV="false" rot="-2700000">
            <a:off x="13234766" y="3726677"/>
            <a:ext cx="4979249" cy="2833646"/>
          </a:xfrm>
          <a:custGeom>
            <a:avLst/>
            <a:gdLst/>
            <a:ahLst/>
            <a:cxnLst/>
            <a:rect r="r" b="b" t="t" l="l"/>
            <a:pathLst>
              <a:path h="2833646" w="4979249">
                <a:moveTo>
                  <a:pt x="4979250" y="0"/>
                </a:moveTo>
                <a:lnTo>
                  <a:pt x="0" y="0"/>
                </a:lnTo>
                <a:lnTo>
                  <a:pt x="0" y="2833646"/>
                </a:lnTo>
                <a:lnTo>
                  <a:pt x="4979250" y="2833646"/>
                </a:lnTo>
                <a:lnTo>
                  <a:pt x="497925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1440996" y="1684627"/>
            <a:ext cx="8115781" cy="7565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38"/>
              </a:lnSpc>
              <a:spcBef>
                <a:spcPct val="0"/>
              </a:spcBef>
            </a:pPr>
            <a:r>
              <a:rPr lang="en-US" b="true" sz="7238">
                <a:solidFill>
                  <a:srgbClr val="635C4C"/>
                </a:solidFill>
                <a:latin typeface="Agrandir Bold"/>
                <a:ea typeface="Agrandir Bold"/>
                <a:cs typeface="Agrandir Bold"/>
                <a:sym typeface="Agrandir Bold"/>
              </a:rPr>
              <a:t>P</a:t>
            </a:r>
            <a:r>
              <a:rPr lang="en-US" b="true" sz="7238" strike="noStrike" u="none">
                <a:solidFill>
                  <a:srgbClr val="635C4C"/>
                </a:solidFill>
                <a:latin typeface="Agrandir Bold"/>
                <a:ea typeface="Agrandir Bold"/>
                <a:cs typeface="Agrandir Bold"/>
                <a:sym typeface="Agrandir Bold"/>
              </a:rPr>
              <a:t>ower Query Transformations</a:t>
            </a:r>
          </a:p>
          <a:p>
            <a:pPr algn="l" marL="0" indent="0" lvl="0">
              <a:lnSpc>
                <a:spcPts val="7238"/>
              </a:lnSpc>
              <a:spcBef>
                <a:spcPct val="0"/>
              </a:spcBef>
            </a:pPr>
            <a:r>
              <a:rPr lang="en-US" b="true" sz="7238" strike="noStrike" u="none">
                <a:solidFill>
                  <a:srgbClr val="635C4C"/>
                </a:solidFill>
                <a:latin typeface="Agrandir Bold"/>
                <a:ea typeface="Agrandir Bold"/>
                <a:cs typeface="Agrandir Bold"/>
                <a:sym typeface="Agrandir Bold"/>
              </a:rPr>
              <a:t> </a:t>
            </a:r>
          </a:p>
          <a:p>
            <a:pPr algn="l" marL="0" indent="0" lvl="0">
              <a:lnSpc>
                <a:spcPts val="7238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7238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7238"/>
              </a:lnSpc>
              <a:spcBef>
                <a:spcPct val="0"/>
              </a:spcBef>
            </a:pPr>
            <a:r>
              <a:rPr lang="en-US" b="true" sz="7238" strike="noStrike" u="none">
                <a:solidFill>
                  <a:srgbClr val="635C4C"/>
                </a:solidFill>
                <a:latin typeface="Agrandir Bold"/>
                <a:ea typeface="Agrandir Bold"/>
                <a:cs typeface="Agrandir Bold"/>
                <a:sym typeface="Agrandir Bold"/>
              </a:rPr>
              <a:t>Data Model (Star Schema)</a:t>
            </a:r>
          </a:p>
          <a:p>
            <a:pPr algn="l" marL="0" indent="0" lvl="0">
              <a:lnSpc>
                <a:spcPts val="7238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261627" y="1779203"/>
            <a:ext cx="5946278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2837" indent="-381418" lvl="1">
              <a:lnSpc>
                <a:spcPts val="4239"/>
              </a:lnSpc>
              <a:buFont typeface="Arial"/>
              <a:buChar char="•"/>
            </a:pPr>
            <a:r>
              <a:rPr lang="en-US" sz="3533">
                <a:solidFill>
                  <a:srgbClr val="635C4C"/>
                </a:solidFill>
                <a:latin typeface="TT Fors Display"/>
                <a:ea typeface="TT Fors Display"/>
                <a:cs typeface="TT Fors Display"/>
                <a:sym typeface="TT Fors Display"/>
              </a:rPr>
              <a:t>Product ID creation</a:t>
            </a:r>
          </a:p>
          <a:p>
            <a:pPr algn="l" marL="762837" indent="-381418" lvl="1">
              <a:lnSpc>
                <a:spcPts val="4239"/>
              </a:lnSpc>
              <a:buFont typeface="Arial"/>
              <a:buChar char="•"/>
            </a:pPr>
            <a:r>
              <a:rPr lang="en-US" sz="3533">
                <a:solidFill>
                  <a:srgbClr val="635C4C"/>
                </a:solidFill>
                <a:latin typeface="TT Fors Display"/>
                <a:ea typeface="TT Fors Display"/>
                <a:cs typeface="TT Fors Display"/>
                <a:sym typeface="TT Fors Display"/>
              </a:rPr>
              <a:t>Date extraction</a:t>
            </a:r>
          </a:p>
          <a:p>
            <a:pPr algn="l" marL="762837" indent="-381418" lvl="1">
              <a:lnSpc>
                <a:spcPts val="4239"/>
              </a:lnSpc>
              <a:spcBef>
                <a:spcPct val="0"/>
              </a:spcBef>
              <a:buFont typeface="Arial"/>
              <a:buChar char="•"/>
            </a:pPr>
            <a:r>
              <a:rPr lang="en-US" sz="3533">
                <a:solidFill>
                  <a:srgbClr val="635C4C"/>
                </a:solidFill>
                <a:latin typeface="TT Fors Display"/>
                <a:ea typeface="TT Fors Display"/>
                <a:cs typeface="TT Fors Display"/>
                <a:sym typeface="TT Fors Display"/>
              </a:rPr>
              <a:t>Filtering duplicates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61627" y="6062182"/>
            <a:ext cx="5946278" cy="266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2837" indent="-381418" lvl="1">
              <a:lnSpc>
                <a:spcPts val="4239"/>
              </a:lnSpc>
              <a:buFont typeface="Arial"/>
              <a:buChar char="•"/>
            </a:pPr>
            <a:r>
              <a:rPr lang="en-US" sz="3533">
                <a:solidFill>
                  <a:srgbClr val="635C4C"/>
                </a:solidFill>
                <a:latin typeface="TT Fors Display"/>
                <a:ea typeface="TT Fors Display"/>
                <a:cs typeface="TT Fors Display"/>
                <a:sym typeface="TT Fors Display"/>
              </a:rPr>
              <a:t>FactSales</a:t>
            </a:r>
          </a:p>
          <a:p>
            <a:pPr algn="l" marL="762837" indent="-381418" lvl="1">
              <a:lnSpc>
                <a:spcPts val="4239"/>
              </a:lnSpc>
              <a:buFont typeface="Arial"/>
              <a:buChar char="•"/>
            </a:pPr>
            <a:r>
              <a:rPr lang="en-US" sz="3533">
                <a:solidFill>
                  <a:srgbClr val="635C4C"/>
                </a:solidFill>
                <a:latin typeface="TT Fors Display"/>
                <a:ea typeface="TT Fors Display"/>
                <a:cs typeface="TT Fors Display"/>
                <a:sym typeface="TT Fors Display"/>
              </a:rPr>
              <a:t>DimProduct</a:t>
            </a:r>
          </a:p>
          <a:p>
            <a:pPr algn="l" marL="762837" indent="-381418" lvl="1">
              <a:lnSpc>
                <a:spcPts val="4239"/>
              </a:lnSpc>
              <a:buFont typeface="Arial"/>
              <a:buChar char="•"/>
            </a:pPr>
            <a:r>
              <a:rPr lang="en-US" sz="3533">
                <a:solidFill>
                  <a:srgbClr val="635C4C"/>
                </a:solidFill>
                <a:latin typeface="TT Fors Display"/>
                <a:ea typeface="TT Fors Display"/>
                <a:cs typeface="TT Fors Display"/>
                <a:sym typeface="TT Fors Display"/>
              </a:rPr>
              <a:t>DimCustomer</a:t>
            </a:r>
          </a:p>
          <a:p>
            <a:pPr algn="l" marL="762837" indent="-381418" lvl="1">
              <a:lnSpc>
                <a:spcPts val="4239"/>
              </a:lnSpc>
              <a:buFont typeface="Arial"/>
              <a:buChar char="•"/>
            </a:pPr>
            <a:r>
              <a:rPr lang="en-US" sz="3533">
                <a:solidFill>
                  <a:srgbClr val="635C4C"/>
                </a:solidFill>
                <a:latin typeface="TT Fors Display"/>
                <a:ea typeface="TT Fors Display"/>
                <a:cs typeface="TT Fors Display"/>
                <a:sym typeface="TT Fors Display"/>
              </a:rPr>
              <a:t>DimRegion</a:t>
            </a:r>
          </a:p>
          <a:p>
            <a:pPr algn="l" marL="762837" indent="-381418" lvl="1">
              <a:lnSpc>
                <a:spcPts val="4239"/>
              </a:lnSpc>
              <a:spcBef>
                <a:spcPct val="0"/>
              </a:spcBef>
              <a:buFont typeface="Arial"/>
              <a:buChar char="•"/>
            </a:pPr>
            <a:r>
              <a:rPr lang="en-US" sz="3533">
                <a:solidFill>
                  <a:srgbClr val="635C4C"/>
                </a:solidFill>
                <a:latin typeface="TT Fors Display"/>
                <a:ea typeface="TT Fors Display"/>
                <a:cs typeface="TT Fors Display"/>
                <a:sym typeface="TT Fors Display"/>
              </a:rPr>
              <a:t>DimDate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3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9599946">
            <a:off x="7793412" y="41103"/>
            <a:ext cx="11719209" cy="13487249"/>
          </a:xfrm>
          <a:custGeom>
            <a:avLst/>
            <a:gdLst/>
            <a:ahLst/>
            <a:cxnLst/>
            <a:rect r="r" b="b" t="t" l="l"/>
            <a:pathLst>
              <a:path h="13487249" w="11719209">
                <a:moveTo>
                  <a:pt x="0" y="0"/>
                </a:moveTo>
                <a:lnTo>
                  <a:pt x="11719209" y="0"/>
                </a:lnTo>
                <a:lnTo>
                  <a:pt x="11719209" y="13487249"/>
                </a:lnTo>
                <a:lnTo>
                  <a:pt x="0" y="134872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81889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9599946">
            <a:off x="-1162376" y="-3594347"/>
            <a:ext cx="9655124" cy="13487249"/>
          </a:xfrm>
          <a:custGeom>
            <a:avLst/>
            <a:gdLst/>
            <a:ahLst/>
            <a:cxnLst/>
            <a:rect r="r" b="b" t="t" l="l"/>
            <a:pathLst>
              <a:path h="13487249" w="9655124">
                <a:moveTo>
                  <a:pt x="0" y="0"/>
                </a:moveTo>
                <a:lnTo>
                  <a:pt x="9655124" y="0"/>
                </a:lnTo>
                <a:lnTo>
                  <a:pt x="9655124" y="13487249"/>
                </a:lnTo>
                <a:lnTo>
                  <a:pt x="0" y="134872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0774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032175" y="3905596"/>
            <a:ext cx="12223650" cy="3508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406929" indent="-703465" lvl="1">
              <a:lnSpc>
                <a:spcPts val="6516"/>
              </a:lnSpc>
              <a:buFont typeface="Arial"/>
              <a:buChar char="•"/>
            </a:pPr>
            <a:r>
              <a:rPr lang="en-US" sz="6516">
                <a:solidFill>
                  <a:srgbClr val="004AAD"/>
                </a:solidFill>
                <a:latin typeface="Agrandir"/>
                <a:ea typeface="Agrandir"/>
                <a:cs typeface="Agrandir"/>
                <a:sym typeface="Agrandir"/>
              </a:rPr>
              <a:t>Total Sales</a:t>
            </a:r>
          </a:p>
          <a:p>
            <a:pPr algn="l" marL="1406929" indent="-703465" lvl="1">
              <a:lnSpc>
                <a:spcPts val="6516"/>
              </a:lnSpc>
              <a:buFont typeface="Arial"/>
              <a:buChar char="•"/>
            </a:pPr>
            <a:r>
              <a:rPr lang="en-US" sz="6516">
                <a:solidFill>
                  <a:srgbClr val="004AAD"/>
                </a:solidFill>
                <a:latin typeface="Agrandir"/>
                <a:ea typeface="Agrandir"/>
                <a:cs typeface="Agrandir"/>
                <a:sym typeface="Agrandir"/>
              </a:rPr>
              <a:t>Sales Growth %</a:t>
            </a:r>
          </a:p>
          <a:p>
            <a:pPr algn="l" marL="1406929" indent="-703465" lvl="1">
              <a:lnSpc>
                <a:spcPts val="6516"/>
              </a:lnSpc>
              <a:buFont typeface="Arial"/>
              <a:buChar char="•"/>
            </a:pPr>
            <a:r>
              <a:rPr lang="en-US" sz="6516">
                <a:solidFill>
                  <a:srgbClr val="004AAD"/>
                </a:solidFill>
                <a:latin typeface="Agrandir"/>
                <a:ea typeface="Agrandir"/>
                <a:cs typeface="Agrandir"/>
                <a:sym typeface="Agrandir"/>
              </a:rPr>
              <a:t>YTD Sales</a:t>
            </a:r>
          </a:p>
          <a:p>
            <a:pPr algn="l" marL="1406929" indent="-703465" lvl="1">
              <a:lnSpc>
                <a:spcPts val="6516"/>
              </a:lnSpc>
              <a:spcBef>
                <a:spcPct val="0"/>
              </a:spcBef>
              <a:buFont typeface="Arial"/>
              <a:buChar char="•"/>
            </a:pPr>
            <a:r>
              <a:rPr lang="en-US" sz="6516">
                <a:solidFill>
                  <a:srgbClr val="004AAD"/>
                </a:solidFill>
                <a:latin typeface="Agrandir"/>
                <a:ea typeface="Agrandir"/>
                <a:cs typeface="Agrandir"/>
                <a:sym typeface="Agrandir"/>
              </a:rPr>
              <a:t>Profit Margin %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79585" y="1957741"/>
            <a:ext cx="9128554" cy="1191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0"/>
              </a:lnSpc>
            </a:pPr>
            <a:r>
              <a:rPr lang="en-US" sz="4160" b="true">
                <a:solidFill>
                  <a:srgbClr val="2E2959"/>
                </a:solidFill>
                <a:latin typeface="Agrandir Bold"/>
                <a:ea typeface="Agrandir Bold"/>
                <a:cs typeface="Agrandir Bold"/>
                <a:sym typeface="Agrandir Bold"/>
              </a:rPr>
              <a:t>DAX Sample Measures:</a:t>
            </a:r>
          </a:p>
          <a:p>
            <a:pPr algn="l" marL="0" indent="0" lvl="0">
              <a:lnSpc>
                <a:spcPts val="41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1924" y="-116484"/>
            <a:ext cx="6521774" cy="10563650"/>
            <a:chOff x="0" y="0"/>
            <a:chExt cx="1717669" cy="27821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17669" cy="2782196"/>
            </a:xfrm>
            <a:custGeom>
              <a:avLst/>
              <a:gdLst/>
              <a:ahLst/>
              <a:cxnLst/>
              <a:rect r="r" b="b" t="t" l="l"/>
              <a:pathLst>
                <a:path h="2782196" w="1717669">
                  <a:moveTo>
                    <a:pt x="0" y="0"/>
                  </a:moveTo>
                  <a:lnTo>
                    <a:pt x="1717669" y="0"/>
                  </a:lnTo>
                  <a:lnTo>
                    <a:pt x="1717669" y="2782196"/>
                  </a:lnTo>
                  <a:lnTo>
                    <a:pt x="0" y="2782196"/>
                  </a:lnTo>
                  <a:close/>
                </a:path>
              </a:pathLst>
            </a:custGeom>
            <a:solidFill>
              <a:srgbClr val="E65E07"/>
            </a:solidFill>
            <a:ln w="9525" cap="sq">
              <a:solidFill>
                <a:srgbClr val="323232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1717669" cy="28488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942175" y="778900"/>
            <a:ext cx="1353363" cy="1353363"/>
          </a:xfrm>
          <a:custGeom>
            <a:avLst/>
            <a:gdLst/>
            <a:ahLst/>
            <a:cxnLst/>
            <a:rect r="r" b="b" t="t" l="l"/>
            <a:pathLst>
              <a:path h="1353363" w="1353363">
                <a:moveTo>
                  <a:pt x="0" y="0"/>
                </a:moveTo>
                <a:lnTo>
                  <a:pt x="1353363" y="0"/>
                </a:lnTo>
                <a:lnTo>
                  <a:pt x="1353363" y="1353363"/>
                </a:lnTo>
                <a:lnTo>
                  <a:pt x="0" y="13533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858125" y="2573489"/>
            <a:ext cx="1521463" cy="1521463"/>
          </a:xfrm>
          <a:custGeom>
            <a:avLst/>
            <a:gdLst/>
            <a:ahLst/>
            <a:cxnLst/>
            <a:rect r="r" b="b" t="t" l="l"/>
            <a:pathLst>
              <a:path h="1521463" w="1521463">
                <a:moveTo>
                  <a:pt x="0" y="0"/>
                </a:moveTo>
                <a:lnTo>
                  <a:pt x="1521463" y="0"/>
                </a:lnTo>
                <a:lnTo>
                  <a:pt x="1521463" y="1521463"/>
                </a:lnTo>
                <a:lnTo>
                  <a:pt x="0" y="15214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858125" y="4522552"/>
            <a:ext cx="1521463" cy="1474436"/>
          </a:xfrm>
          <a:custGeom>
            <a:avLst/>
            <a:gdLst/>
            <a:ahLst/>
            <a:cxnLst/>
            <a:rect r="r" b="b" t="t" l="l"/>
            <a:pathLst>
              <a:path h="1474436" w="1521463">
                <a:moveTo>
                  <a:pt x="0" y="0"/>
                </a:moveTo>
                <a:lnTo>
                  <a:pt x="1521463" y="0"/>
                </a:lnTo>
                <a:lnTo>
                  <a:pt x="1521463" y="1474436"/>
                </a:lnTo>
                <a:lnTo>
                  <a:pt x="0" y="14744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858125" y="6300410"/>
            <a:ext cx="1521463" cy="1596955"/>
          </a:xfrm>
          <a:custGeom>
            <a:avLst/>
            <a:gdLst/>
            <a:ahLst/>
            <a:cxnLst/>
            <a:rect r="r" b="b" t="t" l="l"/>
            <a:pathLst>
              <a:path h="1596955" w="1521463">
                <a:moveTo>
                  <a:pt x="0" y="0"/>
                </a:moveTo>
                <a:lnTo>
                  <a:pt x="1521463" y="0"/>
                </a:lnTo>
                <a:lnTo>
                  <a:pt x="1521463" y="1596955"/>
                </a:lnTo>
                <a:lnTo>
                  <a:pt x="0" y="15969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881256" y="8401279"/>
            <a:ext cx="1475200" cy="1021911"/>
          </a:xfrm>
          <a:custGeom>
            <a:avLst/>
            <a:gdLst/>
            <a:ahLst/>
            <a:cxnLst/>
            <a:rect r="r" b="b" t="t" l="l"/>
            <a:pathLst>
              <a:path h="1021911" w="1475200">
                <a:moveTo>
                  <a:pt x="0" y="0"/>
                </a:moveTo>
                <a:lnTo>
                  <a:pt x="1475200" y="0"/>
                </a:lnTo>
                <a:lnTo>
                  <a:pt x="1475200" y="1021911"/>
                </a:lnTo>
                <a:lnTo>
                  <a:pt x="0" y="102191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672499" y="778900"/>
            <a:ext cx="1370810" cy="1353363"/>
          </a:xfrm>
          <a:custGeom>
            <a:avLst/>
            <a:gdLst/>
            <a:ahLst/>
            <a:cxnLst/>
            <a:rect r="r" b="b" t="t" l="l"/>
            <a:pathLst>
              <a:path h="1353363" w="1370810">
                <a:moveTo>
                  <a:pt x="0" y="0"/>
                </a:moveTo>
                <a:lnTo>
                  <a:pt x="1370809" y="0"/>
                </a:lnTo>
                <a:lnTo>
                  <a:pt x="1370809" y="1353363"/>
                </a:lnTo>
                <a:lnTo>
                  <a:pt x="0" y="135336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620686" y="4522552"/>
            <a:ext cx="1474436" cy="1474436"/>
          </a:xfrm>
          <a:custGeom>
            <a:avLst/>
            <a:gdLst/>
            <a:ahLst/>
            <a:cxnLst/>
            <a:rect r="r" b="b" t="t" l="l"/>
            <a:pathLst>
              <a:path h="1474436" w="1474436">
                <a:moveTo>
                  <a:pt x="0" y="0"/>
                </a:moveTo>
                <a:lnTo>
                  <a:pt x="1474435" y="0"/>
                </a:lnTo>
                <a:lnTo>
                  <a:pt x="1474435" y="1474436"/>
                </a:lnTo>
                <a:lnTo>
                  <a:pt x="0" y="147443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704504" y="2680821"/>
            <a:ext cx="1306799" cy="1306799"/>
          </a:xfrm>
          <a:custGeom>
            <a:avLst/>
            <a:gdLst/>
            <a:ahLst/>
            <a:cxnLst/>
            <a:rect r="r" b="b" t="t" l="l"/>
            <a:pathLst>
              <a:path h="1306799" w="1306799">
                <a:moveTo>
                  <a:pt x="0" y="0"/>
                </a:moveTo>
                <a:lnTo>
                  <a:pt x="1306799" y="0"/>
                </a:lnTo>
                <a:lnTo>
                  <a:pt x="1306799" y="1306799"/>
                </a:lnTo>
                <a:lnTo>
                  <a:pt x="0" y="130679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704504" y="6445487"/>
            <a:ext cx="1306799" cy="1306799"/>
          </a:xfrm>
          <a:custGeom>
            <a:avLst/>
            <a:gdLst/>
            <a:ahLst/>
            <a:cxnLst/>
            <a:rect r="r" b="b" t="t" l="l"/>
            <a:pathLst>
              <a:path h="1306799" w="1306799">
                <a:moveTo>
                  <a:pt x="0" y="0"/>
                </a:moveTo>
                <a:lnTo>
                  <a:pt x="1306799" y="0"/>
                </a:lnTo>
                <a:lnTo>
                  <a:pt x="1306799" y="1306800"/>
                </a:lnTo>
                <a:lnTo>
                  <a:pt x="0" y="130680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672499" y="8226830"/>
            <a:ext cx="1370810" cy="1370810"/>
          </a:xfrm>
          <a:custGeom>
            <a:avLst/>
            <a:gdLst/>
            <a:ahLst/>
            <a:cxnLst/>
            <a:rect r="r" b="b" t="t" l="l"/>
            <a:pathLst>
              <a:path h="1370810" w="1370810">
                <a:moveTo>
                  <a:pt x="0" y="0"/>
                </a:moveTo>
                <a:lnTo>
                  <a:pt x="1370809" y="0"/>
                </a:lnTo>
                <a:lnTo>
                  <a:pt x="1370809" y="1370809"/>
                </a:lnTo>
                <a:lnTo>
                  <a:pt x="0" y="1370809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3192388" y="829271"/>
            <a:ext cx="1856985" cy="1252621"/>
          </a:xfrm>
          <a:custGeom>
            <a:avLst/>
            <a:gdLst/>
            <a:ahLst/>
            <a:cxnLst/>
            <a:rect r="r" b="b" t="t" l="l"/>
            <a:pathLst>
              <a:path h="1252621" w="1856985">
                <a:moveTo>
                  <a:pt x="0" y="0"/>
                </a:moveTo>
                <a:lnTo>
                  <a:pt x="1856985" y="0"/>
                </a:lnTo>
                <a:lnTo>
                  <a:pt x="1856985" y="1252621"/>
                </a:lnTo>
                <a:lnTo>
                  <a:pt x="0" y="1252621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397594" y="2546483"/>
            <a:ext cx="1446573" cy="1575476"/>
          </a:xfrm>
          <a:custGeom>
            <a:avLst/>
            <a:gdLst/>
            <a:ahLst/>
            <a:cxnLst/>
            <a:rect r="r" b="b" t="t" l="l"/>
            <a:pathLst>
              <a:path h="1575476" w="1446573">
                <a:moveTo>
                  <a:pt x="0" y="0"/>
                </a:moveTo>
                <a:lnTo>
                  <a:pt x="1446573" y="0"/>
                </a:lnTo>
                <a:lnTo>
                  <a:pt x="1446573" y="1575475"/>
                </a:lnTo>
                <a:lnTo>
                  <a:pt x="0" y="1575475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5885505" y="690542"/>
            <a:ext cx="1438275" cy="1530080"/>
          </a:xfrm>
          <a:custGeom>
            <a:avLst/>
            <a:gdLst/>
            <a:ahLst/>
            <a:cxnLst/>
            <a:rect r="r" b="b" t="t" l="l"/>
            <a:pathLst>
              <a:path h="1530080" w="1438275">
                <a:moveTo>
                  <a:pt x="0" y="0"/>
                </a:moveTo>
                <a:lnTo>
                  <a:pt x="1438275" y="0"/>
                </a:lnTo>
                <a:lnTo>
                  <a:pt x="1438275" y="1530079"/>
                </a:lnTo>
                <a:lnTo>
                  <a:pt x="0" y="1530079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3192261" y="8130506"/>
            <a:ext cx="1857239" cy="1563457"/>
          </a:xfrm>
          <a:custGeom>
            <a:avLst/>
            <a:gdLst/>
            <a:ahLst/>
            <a:cxnLst/>
            <a:rect r="r" b="b" t="t" l="l"/>
            <a:pathLst>
              <a:path h="1563457" w="1857239">
                <a:moveTo>
                  <a:pt x="0" y="0"/>
                </a:moveTo>
                <a:lnTo>
                  <a:pt x="1857239" y="0"/>
                </a:lnTo>
                <a:lnTo>
                  <a:pt x="1857239" y="1563457"/>
                </a:lnTo>
                <a:lnTo>
                  <a:pt x="0" y="1563457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5571180" y="3123770"/>
            <a:ext cx="2066925" cy="420901"/>
          </a:xfrm>
          <a:custGeom>
            <a:avLst/>
            <a:gdLst/>
            <a:ahLst/>
            <a:cxnLst/>
            <a:rect r="r" b="b" t="t" l="l"/>
            <a:pathLst>
              <a:path h="420901" w="2066925">
                <a:moveTo>
                  <a:pt x="0" y="0"/>
                </a:moveTo>
                <a:lnTo>
                  <a:pt x="2066925" y="0"/>
                </a:lnTo>
                <a:lnTo>
                  <a:pt x="2066925" y="420901"/>
                </a:lnTo>
                <a:lnTo>
                  <a:pt x="0" y="420901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5837009" y="8154372"/>
            <a:ext cx="1535265" cy="1515726"/>
          </a:xfrm>
          <a:custGeom>
            <a:avLst/>
            <a:gdLst/>
            <a:ahLst/>
            <a:cxnLst/>
            <a:rect r="r" b="b" t="t" l="l"/>
            <a:pathLst>
              <a:path h="1515726" w="1535265">
                <a:moveTo>
                  <a:pt x="0" y="0"/>
                </a:moveTo>
                <a:lnTo>
                  <a:pt x="1535266" y="0"/>
                </a:lnTo>
                <a:lnTo>
                  <a:pt x="1535266" y="1515725"/>
                </a:lnTo>
                <a:lnTo>
                  <a:pt x="0" y="1515725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3336220" y="6378425"/>
            <a:ext cx="1569322" cy="1440923"/>
          </a:xfrm>
          <a:custGeom>
            <a:avLst/>
            <a:gdLst/>
            <a:ahLst/>
            <a:cxnLst/>
            <a:rect r="r" b="b" t="t" l="l"/>
            <a:pathLst>
              <a:path h="1440923" w="1569322">
                <a:moveTo>
                  <a:pt x="0" y="0"/>
                </a:moveTo>
                <a:lnTo>
                  <a:pt x="1569322" y="0"/>
                </a:lnTo>
                <a:lnTo>
                  <a:pt x="1569322" y="1440924"/>
                </a:lnTo>
                <a:lnTo>
                  <a:pt x="0" y="1440924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5821429" y="6337034"/>
            <a:ext cx="1566427" cy="1523706"/>
          </a:xfrm>
          <a:custGeom>
            <a:avLst/>
            <a:gdLst/>
            <a:ahLst/>
            <a:cxnLst/>
            <a:rect r="r" b="b" t="t" l="l"/>
            <a:pathLst>
              <a:path h="1523706" w="1566427">
                <a:moveTo>
                  <a:pt x="0" y="0"/>
                </a:moveTo>
                <a:lnTo>
                  <a:pt x="1566426" y="0"/>
                </a:lnTo>
                <a:lnTo>
                  <a:pt x="1566426" y="1523706"/>
                </a:lnTo>
                <a:lnTo>
                  <a:pt x="0" y="1523706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5571180" y="5007981"/>
            <a:ext cx="2066925" cy="503578"/>
          </a:xfrm>
          <a:custGeom>
            <a:avLst/>
            <a:gdLst/>
            <a:ahLst/>
            <a:cxnLst/>
            <a:rect r="r" b="b" t="t" l="l"/>
            <a:pathLst>
              <a:path h="503578" w="2066925">
                <a:moveTo>
                  <a:pt x="0" y="0"/>
                </a:moveTo>
                <a:lnTo>
                  <a:pt x="2066925" y="0"/>
                </a:lnTo>
                <a:lnTo>
                  <a:pt x="2066925" y="503578"/>
                </a:lnTo>
                <a:lnTo>
                  <a:pt x="0" y="503578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3678860" y="4625014"/>
            <a:ext cx="884041" cy="1269511"/>
          </a:xfrm>
          <a:custGeom>
            <a:avLst/>
            <a:gdLst/>
            <a:ahLst/>
            <a:cxnLst/>
            <a:rect r="r" b="b" t="t" l="l"/>
            <a:pathLst>
              <a:path h="1269511" w="884041">
                <a:moveTo>
                  <a:pt x="0" y="0"/>
                </a:moveTo>
                <a:lnTo>
                  <a:pt x="884041" y="0"/>
                </a:lnTo>
                <a:lnTo>
                  <a:pt x="884041" y="1269512"/>
                </a:lnTo>
                <a:lnTo>
                  <a:pt x="0" y="1269512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80975" y="3568459"/>
            <a:ext cx="6353175" cy="3771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40"/>
              </a:lnSpc>
            </a:pPr>
            <a:r>
              <a:rPr lang="en-US" sz="6200" b="true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DASHBOARD WALKTHROUGH SECTION</a:t>
            </a:r>
          </a:p>
          <a:p>
            <a:pPr algn="l" marL="0" indent="0" lvl="0">
              <a:lnSpc>
                <a:spcPts val="74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3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79522" y="158182"/>
            <a:ext cx="2156053" cy="1388498"/>
          </a:xfrm>
          <a:custGeom>
            <a:avLst/>
            <a:gdLst/>
            <a:ahLst/>
            <a:cxnLst/>
            <a:rect r="r" b="b" t="t" l="l"/>
            <a:pathLst>
              <a:path h="1388498" w="2156053">
                <a:moveTo>
                  <a:pt x="0" y="0"/>
                </a:moveTo>
                <a:lnTo>
                  <a:pt x="2156053" y="0"/>
                </a:lnTo>
                <a:lnTo>
                  <a:pt x="2156053" y="1388498"/>
                </a:lnTo>
                <a:lnTo>
                  <a:pt x="0" y="13884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812848" y="2306988"/>
            <a:ext cx="9587960" cy="0"/>
          </a:xfrm>
          <a:prstGeom prst="line">
            <a:avLst/>
          </a:prstGeom>
          <a:ln cap="flat" w="38100">
            <a:solidFill>
              <a:srgbClr val="05015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2193644" y="2306988"/>
            <a:ext cx="13900712" cy="7838435"/>
          </a:xfrm>
          <a:custGeom>
            <a:avLst/>
            <a:gdLst/>
            <a:ahLst/>
            <a:cxnLst/>
            <a:rect r="r" b="b" t="t" l="l"/>
            <a:pathLst>
              <a:path h="7838435" w="13900712">
                <a:moveTo>
                  <a:pt x="0" y="0"/>
                </a:moveTo>
                <a:lnTo>
                  <a:pt x="13900712" y="0"/>
                </a:lnTo>
                <a:lnTo>
                  <a:pt x="13900712" y="7838434"/>
                </a:lnTo>
                <a:lnTo>
                  <a:pt x="0" y="7838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246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12848" y="700031"/>
            <a:ext cx="12942133" cy="1441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  <a:spcBef>
                <a:spcPct val="0"/>
              </a:spcBef>
            </a:pPr>
            <a:r>
              <a:rPr lang="en-US" b="true" sz="8499">
                <a:solidFill>
                  <a:srgbClr val="004AAD"/>
                </a:solidFill>
                <a:latin typeface="Muli Regular Bold"/>
                <a:ea typeface="Muli Regular Bold"/>
                <a:cs typeface="Muli Regular Bold"/>
                <a:sym typeface="Muli Regular Bold"/>
              </a:rPr>
              <a:t>Project Intro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3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79522" y="158182"/>
            <a:ext cx="2156053" cy="1388498"/>
          </a:xfrm>
          <a:custGeom>
            <a:avLst/>
            <a:gdLst/>
            <a:ahLst/>
            <a:cxnLst/>
            <a:rect r="r" b="b" t="t" l="l"/>
            <a:pathLst>
              <a:path h="1388498" w="2156053">
                <a:moveTo>
                  <a:pt x="0" y="0"/>
                </a:moveTo>
                <a:lnTo>
                  <a:pt x="2156053" y="0"/>
                </a:lnTo>
                <a:lnTo>
                  <a:pt x="2156053" y="1388498"/>
                </a:lnTo>
                <a:lnTo>
                  <a:pt x="0" y="13884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812848" y="2306988"/>
            <a:ext cx="9587960" cy="0"/>
          </a:xfrm>
          <a:prstGeom prst="line">
            <a:avLst/>
          </a:prstGeom>
          <a:ln cap="flat" w="38100">
            <a:solidFill>
              <a:srgbClr val="05015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812848" y="700031"/>
            <a:ext cx="14636135" cy="1441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  <a:spcBef>
                <a:spcPct val="0"/>
              </a:spcBef>
            </a:pPr>
            <a:r>
              <a:rPr lang="en-US" b="true" sz="8499">
                <a:solidFill>
                  <a:srgbClr val="004AAD"/>
                </a:solidFill>
                <a:latin typeface="Muli Regular Bold"/>
                <a:ea typeface="Muli Regular Bold"/>
                <a:cs typeface="Muli Regular Bold"/>
                <a:sym typeface="Muli Regular Bold"/>
              </a:rPr>
              <a:t>page 1: Executive Overview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12848" y="1904856"/>
            <a:ext cx="17858183" cy="1177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</a:p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4200" spc="-84">
                <a:solidFill>
                  <a:srgbClr val="000000"/>
                </a:solidFill>
                <a:latin typeface="Muli Regular"/>
                <a:ea typeface="Muli Regular"/>
                <a:cs typeface="Muli Regular"/>
                <a:sym typeface="Muli Regular"/>
              </a:rPr>
              <a:t>Objective: Provide quick insights and act as main navigation Hub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2874084" y="3082146"/>
            <a:ext cx="12539831" cy="7147704"/>
          </a:xfrm>
          <a:custGeom>
            <a:avLst/>
            <a:gdLst/>
            <a:ahLst/>
            <a:cxnLst/>
            <a:rect r="r" b="b" t="t" l="l"/>
            <a:pathLst>
              <a:path h="7147704" w="12539831">
                <a:moveTo>
                  <a:pt x="0" y="0"/>
                </a:moveTo>
                <a:lnTo>
                  <a:pt x="12539832" y="0"/>
                </a:lnTo>
                <a:lnTo>
                  <a:pt x="12539832" y="7147704"/>
                </a:lnTo>
                <a:lnTo>
                  <a:pt x="0" y="71477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3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79522" y="158182"/>
            <a:ext cx="2156053" cy="1388498"/>
          </a:xfrm>
          <a:custGeom>
            <a:avLst/>
            <a:gdLst/>
            <a:ahLst/>
            <a:cxnLst/>
            <a:rect r="r" b="b" t="t" l="l"/>
            <a:pathLst>
              <a:path h="1388498" w="2156053">
                <a:moveTo>
                  <a:pt x="0" y="0"/>
                </a:moveTo>
                <a:lnTo>
                  <a:pt x="2156053" y="0"/>
                </a:lnTo>
                <a:lnTo>
                  <a:pt x="2156053" y="1388498"/>
                </a:lnTo>
                <a:lnTo>
                  <a:pt x="0" y="13884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812848" y="2306988"/>
            <a:ext cx="9587960" cy="0"/>
          </a:xfrm>
          <a:prstGeom prst="line">
            <a:avLst/>
          </a:prstGeom>
          <a:ln cap="flat" w="38100">
            <a:solidFill>
              <a:srgbClr val="05015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2224710" y="3004447"/>
            <a:ext cx="13838580" cy="7282553"/>
          </a:xfrm>
          <a:custGeom>
            <a:avLst/>
            <a:gdLst/>
            <a:ahLst/>
            <a:cxnLst/>
            <a:rect r="r" b="b" t="t" l="l"/>
            <a:pathLst>
              <a:path h="7282553" w="13838580">
                <a:moveTo>
                  <a:pt x="0" y="0"/>
                </a:moveTo>
                <a:lnTo>
                  <a:pt x="13838580" y="0"/>
                </a:lnTo>
                <a:lnTo>
                  <a:pt x="13838580" y="7282553"/>
                </a:lnTo>
                <a:lnTo>
                  <a:pt x="0" y="72825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12848" y="700031"/>
            <a:ext cx="14636135" cy="1441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  <a:spcBef>
                <a:spcPct val="0"/>
              </a:spcBef>
            </a:pPr>
            <a:r>
              <a:rPr lang="en-US" b="true" sz="8499">
                <a:solidFill>
                  <a:srgbClr val="004AAD"/>
                </a:solidFill>
                <a:latin typeface="Muli Regular Bold"/>
                <a:ea typeface="Muli Regular Bold"/>
                <a:cs typeface="Muli Regular Bold"/>
                <a:sym typeface="Muli Regular Bold"/>
              </a:rPr>
              <a:t>page 2: Sales Performance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12848" y="1827157"/>
            <a:ext cx="17858183" cy="1177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</a:p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4200" spc="-84">
                <a:solidFill>
                  <a:srgbClr val="000000"/>
                </a:solidFill>
                <a:latin typeface="Muli Regular"/>
                <a:ea typeface="Muli Regular"/>
                <a:cs typeface="Muli Regular"/>
                <a:sym typeface="Muli Regular"/>
              </a:rPr>
              <a:t>Objective: Explore detailed sales patterns and trends.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3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79522" y="158182"/>
            <a:ext cx="2156053" cy="1388498"/>
          </a:xfrm>
          <a:custGeom>
            <a:avLst/>
            <a:gdLst/>
            <a:ahLst/>
            <a:cxnLst/>
            <a:rect r="r" b="b" t="t" l="l"/>
            <a:pathLst>
              <a:path h="1388498" w="2156053">
                <a:moveTo>
                  <a:pt x="0" y="0"/>
                </a:moveTo>
                <a:lnTo>
                  <a:pt x="2156053" y="0"/>
                </a:lnTo>
                <a:lnTo>
                  <a:pt x="2156053" y="1388498"/>
                </a:lnTo>
                <a:lnTo>
                  <a:pt x="0" y="13884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812848" y="2306988"/>
            <a:ext cx="9587960" cy="0"/>
          </a:xfrm>
          <a:prstGeom prst="line">
            <a:avLst/>
          </a:prstGeom>
          <a:ln cap="flat" w="38100">
            <a:solidFill>
              <a:srgbClr val="05015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812848" y="700031"/>
            <a:ext cx="14636135" cy="1441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  <a:spcBef>
                <a:spcPct val="0"/>
              </a:spcBef>
            </a:pPr>
            <a:r>
              <a:rPr lang="en-US" b="true" sz="8499">
                <a:solidFill>
                  <a:srgbClr val="004AAD"/>
                </a:solidFill>
                <a:latin typeface="Muli Regular Bold"/>
                <a:ea typeface="Muli Regular Bold"/>
                <a:cs typeface="Muli Regular Bold"/>
                <a:sym typeface="Muli Regular Bold"/>
              </a:rPr>
              <a:t>page3: Customer Insights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12848" y="1827157"/>
            <a:ext cx="17858183" cy="1177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</a:p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4200" spc="-84">
                <a:solidFill>
                  <a:srgbClr val="000000"/>
                </a:solidFill>
                <a:latin typeface="Muli Regular"/>
                <a:ea typeface="Muli Regular"/>
                <a:cs typeface="Muli Regular"/>
                <a:sym typeface="Muli Regular"/>
              </a:rPr>
              <a:t>Objective: Evaluate customer base, retention, and segment contribution.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2881125" y="3147322"/>
            <a:ext cx="12525751" cy="7139678"/>
          </a:xfrm>
          <a:custGeom>
            <a:avLst/>
            <a:gdLst/>
            <a:ahLst/>
            <a:cxnLst/>
            <a:rect r="r" b="b" t="t" l="l"/>
            <a:pathLst>
              <a:path h="7139678" w="12525751">
                <a:moveTo>
                  <a:pt x="0" y="0"/>
                </a:moveTo>
                <a:lnTo>
                  <a:pt x="12525750" y="0"/>
                </a:lnTo>
                <a:lnTo>
                  <a:pt x="12525750" y="7139678"/>
                </a:lnTo>
                <a:lnTo>
                  <a:pt x="0" y="71396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3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79522" y="158182"/>
            <a:ext cx="2156053" cy="1388498"/>
          </a:xfrm>
          <a:custGeom>
            <a:avLst/>
            <a:gdLst/>
            <a:ahLst/>
            <a:cxnLst/>
            <a:rect r="r" b="b" t="t" l="l"/>
            <a:pathLst>
              <a:path h="1388498" w="2156053">
                <a:moveTo>
                  <a:pt x="0" y="0"/>
                </a:moveTo>
                <a:lnTo>
                  <a:pt x="2156053" y="0"/>
                </a:lnTo>
                <a:lnTo>
                  <a:pt x="2156053" y="1388498"/>
                </a:lnTo>
                <a:lnTo>
                  <a:pt x="0" y="13884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812848" y="2306988"/>
            <a:ext cx="9587960" cy="0"/>
          </a:xfrm>
          <a:prstGeom prst="line">
            <a:avLst/>
          </a:prstGeom>
          <a:ln cap="flat" w="38100">
            <a:solidFill>
              <a:srgbClr val="05015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812848" y="728606"/>
            <a:ext cx="14966674" cy="1038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004AAD"/>
                </a:solidFill>
                <a:latin typeface="Muli Regular Bold"/>
                <a:ea typeface="Muli Regular Bold"/>
                <a:cs typeface="Muli Regular Bold"/>
                <a:sym typeface="Muli Regular Bold"/>
              </a:rPr>
              <a:t>page 4 : Product &amp; Category Performance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12848" y="2345088"/>
            <a:ext cx="17858183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4200" spc="-84">
                <a:solidFill>
                  <a:srgbClr val="000000"/>
                </a:solidFill>
                <a:latin typeface="Muli Regular"/>
                <a:ea typeface="Muli Regular"/>
                <a:cs typeface="Muli Regular"/>
                <a:sym typeface="Muli Regular"/>
              </a:rPr>
              <a:t>Objective: Identify profitable and underperforming products.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2730990" y="3168559"/>
            <a:ext cx="12826020" cy="7118441"/>
          </a:xfrm>
          <a:custGeom>
            <a:avLst/>
            <a:gdLst/>
            <a:ahLst/>
            <a:cxnLst/>
            <a:rect r="r" b="b" t="t" l="l"/>
            <a:pathLst>
              <a:path h="7118441" w="12826020">
                <a:moveTo>
                  <a:pt x="0" y="0"/>
                </a:moveTo>
                <a:lnTo>
                  <a:pt x="12826020" y="0"/>
                </a:lnTo>
                <a:lnTo>
                  <a:pt x="12826020" y="7118441"/>
                </a:lnTo>
                <a:lnTo>
                  <a:pt x="0" y="71184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3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79522" y="158182"/>
            <a:ext cx="2156053" cy="1388498"/>
          </a:xfrm>
          <a:custGeom>
            <a:avLst/>
            <a:gdLst/>
            <a:ahLst/>
            <a:cxnLst/>
            <a:rect r="r" b="b" t="t" l="l"/>
            <a:pathLst>
              <a:path h="1388498" w="2156053">
                <a:moveTo>
                  <a:pt x="0" y="0"/>
                </a:moveTo>
                <a:lnTo>
                  <a:pt x="2156053" y="0"/>
                </a:lnTo>
                <a:lnTo>
                  <a:pt x="2156053" y="1388498"/>
                </a:lnTo>
                <a:lnTo>
                  <a:pt x="0" y="13884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812848" y="2306988"/>
            <a:ext cx="9587960" cy="0"/>
          </a:xfrm>
          <a:prstGeom prst="line">
            <a:avLst/>
          </a:prstGeom>
          <a:ln cap="flat" w="38100">
            <a:solidFill>
              <a:srgbClr val="05015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812848" y="690506"/>
            <a:ext cx="16044701" cy="1377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b="true" sz="8000">
                <a:solidFill>
                  <a:srgbClr val="004AAD"/>
                </a:solidFill>
                <a:latin typeface="Muli Regular Bold"/>
                <a:ea typeface="Muli Regular Bold"/>
                <a:cs typeface="Muli Regular Bold"/>
                <a:sym typeface="Muli Regular Bold"/>
              </a:rPr>
              <a:t>page 5 : Operational Efficiency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12848" y="1827157"/>
            <a:ext cx="17858183" cy="1177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</a:p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4200" spc="-84">
                <a:solidFill>
                  <a:srgbClr val="000000"/>
                </a:solidFill>
                <a:latin typeface="Muli Regular"/>
                <a:ea typeface="Muli Regular"/>
                <a:cs typeface="Muli Regular"/>
                <a:sym typeface="Muli Regular"/>
              </a:rPr>
              <a:t>Objective:  Assess shipping performance and order cycle time.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2187632" y="3107628"/>
            <a:ext cx="13295133" cy="7179372"/>
          </a:xfrm>
          <a:custGeom>
            <a:avLst/>
            <a:gdLst/>
            <a:ahLst/>
            <a:cxnLst/>
            <a:rect r="r" b="b" t="t" l="l"/>
            <a:pathLst>
              <a:path h="7179372" w="13295133">
                <a:moveTo>
                  <a:pt x="0" y="0"/>
                </a:moveTo>
                <a:lnTo>
                  <a:pt x="13295132" y="0"/>
                </a:lnTo>
                <a:lnTo>
                  <a:pt x="13295132" y="7179372"/>
                </a:lnTo>
                <a:lnTo>
                  <a:pt x="0" y="71793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3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79522" y="158182"/>
            <a:ext cx="2156053" cy="1388498"/>
          </a:xfrm>
          <a:custGeom>
            <a:avLst/>
            <a:gdLst/>
            <a:ahLst/>
            <a:cxnLst/>
            <a:rect r="r" b="b" t="t" l="l"/>
            <a:pathLst>
              <a:path h="1388498" w="2156053">
                <a:moveTo>
                  <a:pt x="0" y="0"/>
                </a:moveTo>
                <a:lnTo>
                  <a:pt x="2156053" y="0"/>
                </a:lnTo>
                <a:lnTo>
                  <a:pt x="2156053" y="1388498"/>
                </a:lnTo>
                <a:lnTo>
                  <a:pt x="0" y="13884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812848" y="2306988"/>
            <a:ext cx="9587960" cy="0"/>
          </a:xfrm>
          <a:prstGeom prst="line">
            <a:avLst/>
          </a:prstGeom>
          <a:ln cap="flat" w="38100">
            <a:solidFill>
              <a:srgbClr val="05015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812848" y="728606"/>
            <a:ext cx="18886539" cy="1151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20"/>
              </a:lnSpc>
              <a:spcBef>
                <a:spcPct val="0"/>
              </a:spcBef>
            </a:pPr>
            <a:r>
              <a:rPr lang="en-US" b="true" sz="6800">
                <a:solidFill>
                  <a:srgbClr val="004AAD"/>
                </a:solidFill>
                <a:latin typeface="Muli Regular Bold"/>
                <a:ea typeface="Muli Regular Bold"/>
                <a:cs typeface="Muli Regular Bold"/>
                <a:sym typeface="Muli Regular Bold"/>
              </a:rPr>
              <a:t>page 6 : regional &amp; Market Expansion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12848" y="1827157"/>
            <a:ext cx="17858183" cy="1177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</a:p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4200" spc="-84">
                <a:solidFill>
                  <a:srgbClr val="000000"/>
                </a:solidFill>
                <a:latin typeface="Muli Regular"/>
                <a:ea typeface="Muli Regular"/>
                <a:cs typeface="Muli Regular"/>
                <a:sym typeface="Muli Regular"/>
              </a:rPr>
              <a:t>Objective: Identify high-growth and declining markets.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2874641" y="3102314"/>
            <a:ext cx="12604712" cy="7184686"/>
          </a:xfrm>
          <a:custGeom>
            <a:avLst/>
            <a:gdLst/>
            <a:ahLst/>
            <a:cxnLst/>
            <a:rect r="r" b="b" t="t" l="l"/>
            <a:pathLst>
              <a:path h="7184686" w="12604712">
                <a:moveTo>
                  <a:pt x="0" y="0"/>
                </a:moveTo>
                <a:lnTo>
                  <a:pt x="12604712" y="0"/>
                </a:lnTo>
                <a:lnTo>
                  <a:pt x="12604712" y="7184686"/>
                </a:lnTo>
                <a:lnTo>
                  <a:pt x="0" y="71846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3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8069" y="1122363"/>
            <a:ext cx="5831883" cy="8042275"/>
          </a:xfrm>
          <a:custGeom>
            <a:avLst/>
            <a:gdLst/>
            <a:ahLst/>
            <a:cxnLst/>
            <a:rect r="r" b="b" t="t" l="l"/>
            <a:pathLst>
              <a:path h="8042275" w="5831883">
                <a:moveTo>
                  <a:pt x="0" y="0"/>
                </a:moveTo>
                <a:lnTo>
                  <a:pt x="5831883" y="0"/>
                </a:lnTo>
                <a:lnTo>
                  <a:pt x="5831883" y="8042274"/>
                </a:lnTo>
                <a:lnTo>
                  <a:pt x="0" y="8042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09778" y="2498406"/>
            <a:ext cx="7150078" cy="5414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20"/>
              </a:lnSpc>
            </a:pPr>
            <a:r>
              <a:rPr lang="en-US" sz="14500" spc="-1189">
                <a:solidFill>
                  <a:srgbClr val="272665"/>
                </a:solidFill>
                <a:latin typeface="Public Sans"/>
                <a:ea typeface="Public Sans"/>
                <a:cs typeface="Public Sans"/>
                <a:sym typeface="Public Sans"/>
              </a:rPr>
              <a:t>Thank you very much!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DAGyWql3ouU</dc:identifier>
  <dcterms:modified xsi:type="dcterms:W3CDTF">2011-08-01T06:04:30Z</dcterms:modified>
  <cp:revision>1</cp:revision>
  <dc:title>نسخة من DEMI Final Presentation</dc:title>
</cp:coreProperties>
</file>